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  <p:sldId id="274" r:id="rId18"/>
    <p:sldId id="272" r:id="rId19"/>
    <p:sldId id="273" r:id="rId20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201" autoAdjust="0"/>
  </p:normalViewPr>
  <p:slideViewPr>
    <p:cSldViewPr>
      <p:cViewPr varScale="1">
        <p:scale>
          <a:sx n="69" d="100"/>
          <a:sy n="69" d="100"/>
        </p:scale>
        <p:origin x="60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0383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0383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0383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0383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0383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1"/>
            <a:ext cx="14629256" cy="822896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48640" y="0"/>
            <a:ext cx="1346835" cy="6395085"/>
          </a:xfrm>
          <a:custGeom>
            <a:avLst/>
            <a:gdLst/>
            <a:ahLst/>
            <a:cxnLst/>
            <a:rect l="l" t="t" r="r" b="b"/>
            <a:pathLst>
              <a:path w="1346835" h="6395085">
                <a:moveTo>
                  <a:pt x="1346835" y="0"/>
                </a:moveTo>
                <a:lnTo>
                  <a:pt x="1042035" y="0"/>
                </a:lnTo>
                <a:lnTo>
                  <a:pt x="0" y="6343650"/>
                </a:lnTo>
                <a:lnTo>
                  <a:pt x="297179" y="6395085"/>
                </a:lnTo>
                <a:lnTo>
                  <a:pt x="1346835" y="0"/>
                </a:lnTo>
                <a:close/>
              </a:path>
            </a:pathLst>
          </a:custGeom>
          <a:solidFill>
            <a:srgbClr val="2E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80975" y="0"/>
            <a:ext cx="1341120" cy="6332220"/>
          </a:xfrm>
          <a:custGeom>
            <a:avLst/>
            <a:gdLst/>
            <a:ahLst/>
            <a:cxnLst/>
            <a:rect l="l" t="t" r="r" b="b"/>
            <a:pathLst>
              <a:path w="1341120" h="6332220">
                <a:moveTo>
                  <a:pt x="1341120" y="0"/>
                </a:moveTo>
                <a:lnTo>
                  <a:pt x="1038225" y="0"/>
                </a:lnTo>
                <a:lnTo>
                  <a:pt x="0" y="6286500"/>
                </a:lnTo>
                <a:lnTo>
                  <a:pt x="299084" y="6332220"/>
                </a:lnTo>
                <a:lnTo>
                  <a:pt x="134112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80975" y="6286500"/>
            <a:ext cx="1474470" cy="1943100"/>
          </a:xfrm>
          <a:custGeom>
            <a:avLst/>
            <a:gdLst/>
            <a:ahLst/>
            <a:cxnLst/>
            <a:rect l="l" t="t" r="r" b="b"/>
            <a:pathLst>
              <a:path w="1474470" h="1943100">
                <a:moveTo>
                  <a:pt x="0" y="0"/>
                </a:moveTo>
                <a:lnTo>
                  <a:pt x="1409700" y="1943099"/>
                </a:lnTo>
                <a:lnTo>
                  <a:pt x="1474470" y="1943099"/>
                </a:lnTo>
                <a:lnTo>
                  <a:pt x="0" y="0"/>
                </a:lnTo>
                <a:close/>
              </a:path>
            </a:pathLst>
          </a:custGeom>
          <a:solidFill>
            <a:srgbClr val="24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48640" y="6349365"/>
            <a:ext cx="1794510" cy="1880235"/>
          </a:xfrm>
          <a:custGeom>
            <a:avLst/>
            <a:gdLst/>
            <a:ahLst/>
            <a:cxnLst/>
            <a:rect l="l" t="t" r="r" b="b"/>
            <a:pathLst>
              <a:path w="1794510" h="1880234">
                <a:moveTo>
                  <a:pt x="0" y="0"/>
                </a:moveTo>
                <a:lnTo>
                  <a:pt x="1731645" y="1880235"/>
                </a:lnTo>
                <a:lnTo>
                  <a:pt x="1794510" y="1880235"/>
                </a:lnTo>
                <a:lnTo>
                  <a:pt x="0" y="0"/>
                </a:lnTo>
                <a:close/>
              </a:path>
            </a:pathLst>
          </a:custGeom>
          <a:solidFill>
            <a:srgbClr val="0C5A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48640" y="6343650"/>
            <a:ext cx="2556510" cy="1885950"/>
          </a:xfrm>
          <a:custGeom>
            <a:avLst/>
            <a:gdLst/>
            <a:ahLst/>
            <a:cxnLst/>
            <a:rect l="l" t="t" r="r" b="b"/>
            <a:pathLst>
              <a:path w="2556510" h="1885950">
                <a:moveTo>
                  <a:pt x="0" y="0"/>
                </a:moveTo>
                <a:lnTo>
                  <a:pt x="0" y="5714"/>
                </a:lnTo>
                <a:lnTo>
                  <a:pt x="1794510" y="1885949"/>
                </a:lnTo>
                <a:lnTo>
                  <a:pt x="2556510" y="1885949"/>
                </a:lnTo>
                <a:lnTo>
                  <a:pt x="297179" y="51435"/>
                </a:lnTo>
                <a:lnTo>
                  <a:pt x="0" y="0"/>
                </a:lnTo>
                <a:close/>
              </a:path>
            </a:pathLst>
          </a:custGeom>
          <a:solidFill>
            <a:srgbClr val="1285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80975" y="6286500"/>
            <a:ext cx="2034539" cy="1943100"/>
          </a:xfrm>
          <a:custGeom>
            <a:avLst/>
            <a:gdLst/>
            <a:ahLst/>
            <a:cxnLst/>
            <a:rect l="l" t="t" r="r" b="b"/>
            <a:pathLst>
              <a:path w="2034539" h="1943100">
                <a:moveTo>
                  <a:pt x="0" y="0"/>
                </a:moveTo>
                <a:lnTo>
                  <a:pt x="1474470" y="1943099"/>
                </a:lnTo>
                <a:lnTo>
                  <a:pt x="2034539" y="1943099"/>
                </a:lnTo>
                <a:lnTo>
                  <a:pt x="350520" y="114300"/>
                </a:lnTo>
                <a:lnTo>
                  <a:pt x="293370" y="51435"/>
                </a:lnTo>
                <a:lnTo>
                  <a:pt x="299084" y="51435"/>
                </a:lnTo>
                <a:lnTo>
                  <a:pt x="299084" y="45719"/>
                </a:lnTo>
                <a:lnTo>
                  <a:pt x="293370" y="45719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6880" y="34544"/>
            <a:ext cx="11370944" cy="1330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77542" y="1318539"/>
            <a:ext cx="11644630" cy="4037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863573" y="7868411"/>
            <a:ext cx="477900" cy="341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0383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5725"/>
            <a:ext cx="1025766" cy="103073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5310" rIns="0" bIns="0" rtlCol="0">
            <a:spAutoFit/>
          </a:bodyPr>
          <a:lstStyle/>
          <a:p>
            <a:pPr marL="215201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CITY</a:t>
            </a:r>
            <a:r>
              <a:rPr sz="4800" spc="-240" dirty="0"/>
              <a:t> </a:t>
            </a:r>
            <a:r>
              <a:rPr sz="4800" dirty="0"/>
              <a:t>ENGINEERING</a:t>
            </a:r>
            <a:r>
              <a:rPr sz="4800" spc="-75" dirty="0"/>
              <a:t> </a:t>
            </a:r>
            <a:r>
              <a:rPr sz="4800" spc="-10" dirty="0"/>
              <a:t>COLLEGE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848357" y="1608032"/>
            <a:ext cx="11984990" cy="6071870"/>
          </a:xfrm>
          <a:prstGeom prst="rect">
            <a:avLst/>
          </a:prstGeom>
        </p:spPr>
        <p:txBody>
          <a:bodyPr vert="horz" wrap="square" lIns="0" tIns="243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sz="3200" b="1" dirty="0">
                <a:latin typeface="Times New Roman"/>
                <a:cs typeface="Times New Roman"/>
              </a:rPr>
              <a:t>Doddakallasandra,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Off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Kanakapura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Main</a:t>
            </a:r>
            <a:r>
              <a:rPr sz="3200" b="1" spc="-6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Road,</a:t>
            </a:r>
            <a:r>
              <a:rPr sz="3200" b="1" spc="-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Bangalore</a:t>
            </a:r>
            <a:r>
              <a:rPr sz="3200" b="1" spc="-9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-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560</a:t>
            </a:r>
            <a:r>
              <a:rPr sz="3200" b="1" spc="-65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062</a:t>
            </a:r>
            <a:endParaRPr sz="3200" dirty="0">
              <a:latin typeface="Times New Roman"/>
              <a:cs typeface="Times New Roman"/>
            </a:endParaRPr>
          </a:p>
          <a:p>
            <a:pPr marL="652780">
              <a:lnSpc>
                <a:spcPct val="100000"/>
              </a:lnSpc>
              <a:spcBef>
                <a:spcPts val="2035"/>
              </a:spcBef>
            </a:pPr>
            <a:r>
              <a:rPr sz="3600" b="1" dirty="0">
                <a:solidFill>
                  <a:srgbClr val="171717"/>
                </a:solidFill>
                <a:latin typeface="Times New Roman"/>
                <a:cs typeface="Times New Roman"/>
              </a:rPr>
              <a:t>Department</a:t>
            </a:r>
            <a:r>
              <a:rPr sz="3600" b="1" spc="14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171717"/>
                </a:solidFill>
                <a:latin typeface="Times New Roman"/>
                <a:cs typeface="Times New Roman"/>
              </a:rPr>
              <a:t>of</a:t>
            </a:r>
            <a:r>
              <a:rPr sz="3600" b="1" spc="20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171717"/>
                </a:solidFill>
                <a:latin typeface="Times New Roman"/>
                <a:cs typeface="Times New Roman"/>
              </a:rPr>
              <a:t>Computer</a:t>
            </a:r>
            <a:r>
              <a:rPr sz="3600" b="1" spc="9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171717"/>
                </a:solidFill>
                <a:latin typeface="Times New Roman"/>
                <a:cs typeface="Times New Roman"/>
              </a:rPr>
              <a:t>Science</a:t>
            </a:r>
            <a:r>
              <a:rPr sz="3600" b="1" spc="17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171717"/>
                </a:solidFill>
                <a:latin typeface="Times New Roman"/>
                <a:cs typeface="Times New Roman"/>
              </a:rPr>
              <a:t>and</a:t>
            </a:r>
            <a:r>
              <a:rPr sz="3600" b="1" spc="19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171717"/>
                </a:solidFill>
                <a:latin typeface="Times New Roman"/>
                <a:cs typeface="Times New Roman"/>
              </a:rPr>
              <a:t>Engineering</a:t>
            </a:r>
            <a:endParaRPr sz="3600" dirty="0">
              <a:latin typeface="Times New Roman"/>
              <a:cs typeface="Times New Roman"/>
            </a:endParaRPr>
          </a:p>
          <a:p>
            <a:pPr marL="3832225" marR="5696585" algn="ctr">
              <a:lnSpc>
                <a:spcPts val="4300"/>
              </a:lnSpc>
              <a:spcBef>
                <a:spcPts val="2705"/>
              </a:spcBef>
            </a:pPr>
            <a:r>
              <a:rPr sz="3600" b="1" spc="-20" dirty="0">
                <a:solidFill>
                  <a:srgbClr val="171717"/>
                </a:solidFill>
                <a:latin typeface="Times New Roman"/>
                <a:cs typeface="Times New Roman"/>
              </a:rPr>
              <a:t>Presentation </a:t>
            </a:r>
            <a:r>
              <a:rPr sz="3600" b="1" spc="-25" dirty="0">
                <a:solidFill>
                  <a:srgbClr val="171717"/>
                </a:solidFill>
                <a:latin typeface="Times New Roman"/>
                <a:cs typeface="Times New Roman"/>
              </a:rPr>
              <a:t>On</a:t>
            </a:r>
            <a:endParaRPr sz="3600" dirty="0">
              <a:latin typeface="Times New Roman"/>
              <a:cs typeface="Times New Roman"/>
            </a:endParaRPr>
          </a:p>
          <a:p>
            <a:pPr marR="1855470" algn="ctr">
              <a:lnSpc>
                <a:spcPts val="4105"/>
              </a:lnSpc>
            </a:pPr>
            <a:r>
              <a:rPr sz="3600" b="1">
                <a:solidFill>
                  <a:srgbClr val="171717"/>
                </a:solidFill>
                <a:latin typeface="Times New Roman"/>
                <a:cs typeface="Times New Roman"/>
              </a:rPr>
              <a:t>“Internship</a:t>
            </a:r>
            <a:r>
              <a:rPr sz="3600" b="1" spc="-50">
                <a:solidFill>
                  <a:srgbClr val="171717"/>
                </a:solidFill>
                <a:latin typeface="Times New Roman"/>
                <a:cs typeface="Times New Roman"/>
              </a:rPr>
              <a:t>”</a:t>
            </a:r>
            <a:endParaRPr sz="3600">
              <a:latin typeface="Times New Roman"/>
              <a:cs typeface="Times New Roman"/>
            </a:endParaRPr>
          </a:p>
          <a:p>
            <a:pPr marL="818515" marR="7247890">
              <a:lnSpc>
                <a:spcPct val="127499"/>
              </a:lnSpc>
              <a:spcBef>
                <a:spcPts val="3010"/>
              </a:spcBef>
            </a:pPr>
            <a:r>
              <a:rPr sz="2800" b="1" dirty="0">
                <a:solidFill>
                  <a:srgbClr val="171717"/>
                </a:solidFill>
                <a:latin typeface="Times New Roman"/>
                <a:cs typeface="Times New Roman"/>
              </a:rPr>
              <a:t>Student</a:t>
            </a:r>
            <a:r>
              <a:rPr sz="2800" b="1" spc="-7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171717"/>
                </a:solidFill>
                <a:latin typeface="Times New Roman"/>
                <a:cs typeface="Times New Roman"/>
              </a:rPr>
              <a:t>Name:</a:t>
            </a:r>
            <a:r>
              <a:rPr sz="2800" b="1" spc="-7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171717"/>
                </a:solidFill>
                <a:latin typeface="Times New Roman"/>
                <a:cs typeface="Times New Roman"/>
              </a:rPr>
              <a:t>V.</a:t>
            </a:r>
            <a:r>
              <a:rPr sz="2800" b="1" spc="-7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171717"/>
                </a:solidFill>
                <a:latin typeface="Times New Roman"/>
                <a:cs typeface="Times New Roman"/>
              </a:rPr>
              <a:t>Sudeep </a:t>
            </a:r>
            <a:r>
              <a:rPr sz="2800" b="1" dirty="0">
                <a:solidFill>
                  <a:srgbClr val="171717"/>
                </a:solidFill>
                <a:latin typeface="Times New Roman"/>
                <a:cs typeface="Times New Roman"/>
              </a:rPr>
              <a:t>USN:</a:t>
            </a:r>
            <a:r>
              <a:rPr sz="2800" b="1" spc="-7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171717"/>
                </a:solidFill>
                <a:latin typeface="Times New Roman"/>
                <a:cs typeface="Times New Roman"/>
              </a:rPr>
              <a:t>1CE22CS170</a:t>
            </a:r>
            <a:endParaRPr sz="2800" dirty="0">
              <a:latin typeface="Times New Roman"/>
              <a:cs typeface="Times New Roman"/>
            </a:endParaRPr>
          </a:p>
          <a:p>
            <a:pPr marL="818515" marR="3999865">
              <a:lnSpc>
                <a:spcPct val="127899"/>
              </a:lnSpc>
              <a:spcBef>
                <a:spcPts val="15"/>
              </a:spcBef>
            </a:pPr>
            <a:r>
              <a:rPr sz="2800" b="1" dirty="0">
                <a:solidFill>
                  <a:srgbClr val="171717"/>
                </a:solidFill>
                <a:latin typeface="Times New Roman"/>
                <a:cs typeface="Times New Roman"/>
              </a:rPr>
              <a:t>Company</a:t>
            </a:r>
            <a:r>
              <a:rPr sz="2800" b="1" spc="-9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171717"/>
                </a:solidFill>
                <a:latin typeface="Times New Roman"/>
                <a:cs typeface="Times New Roman"/>
              </a:rPr>
              <a:t>Name:</a:t>
            </a:r>
            <a:r>
              <a:rPr sz="2800" b="1" spc="-8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171717"/>
                </a:solidFill>
                <a:latin typeface="Times New Roman"/>
                <a:cs typeface="Times New Roman"/>
              </a:rPr>
              <a:t>Dyashin</a:t>
            </a:r>
            <a:r>
              <a:rPr sz="2800" b="1" spc="-8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171717"/>
                </a:solidFill>
                <a:latin typeface="Times New Roman"/>
                <a:cs typeface="Times New Roman"/>
              </a:rPr>
              <a:t>TechnoSoft</a:t>
            </a:r>
            <a:r>
              <a:rPr sz="2800" b="1" spc="-9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171717"/>
                </a:solidFill>
                <a:latin typeface="Times New Roman"/>
                <a:cs typeface="Times New Roman"/>
              </a:rPr>
              <a:t>Pvt</a:t>
            </a:r>
            <a:r>
              <a:rPr sz="2800" b="1" spc="-9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171717"/>
                </a:solidFill>
                <a:latin typeface="Times New Roman"/>
                <a:cs typeface="Times New Roman"/>
              </a:rPr>
              <a:t>LTD </a:t>
            </a:r>
            <a:r>
              <a:rPr sz="2800" b="1" dirty="0">
                <a:solidFill>
                  <a:srgbClr val="171717"/>
                </a:solidFill>
                <a:latin typeface="Times New Roman"/>
                <a:cs typeface="Times New Roman"/>
              </a:rPr>
              <a:t>Duration:4</a:t>
            </a:r>
            <a:r>
              <a:rPr sz="2800" b="1" spc="-13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171717"/>
                </a:solidFill>
                <a:latin typeface="Times New Roman"/>
                <a:cs typeface="Times New Roman"/>
              </a:rPr>
              <a:t>Months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5" name="object 5" descr="IMG_25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84455" y="73660"/>
            <a:ext cx="1727835" cy="1367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4629256" cy="822896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6880" y="441706"/>
            <a:ext cx="397700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50" dirty="0"/>
              <a:t>Table</a:t>
            </a:r>
            <a:r>
              <a:rPr sz="4350" spc="-240" dirty="0"/>
              <a:t> </a:t>
            </a:r>
            <a:r>
              <a:rPr sz="4350" dirty="0"/>
              <a:t>of</a:t>
            </a:r>
            <a:r>
              <a:rPr sz="4350" spc="-195" dirty="0"/>
              <a:t> </a:t>
            </a:r>
            <a:r>
              <a:rPr spc="-10" dirty="0"/>
              <a:t>Content</a:t>
            </a:r>
            <a:endParaRPr sz="4350"/>
          </a:p>
        </p:txBody>
      </p:sp>
      <p:sp>
        <p:nvSpPr>
          <p:cNvPr id="4" name="object 4"/>
          <p:cNvSpPr txBox="1"/>
          <p:nvPr/>
        </p:nvSpPr>
        <p:spPr>
          <a:xfrm>
            <a:off x="520700" y="1348486"/>
            <a:ext cx="4437380" cy="5148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527685" algn="l"/>
              </a:tabLst>
            </a:pPr>
            <a:r>
              <a:rPr sz="2800" spc="-10" dirty="0">
                <a:latin typeface="Times New Roman"/>
                <a:cs typeface="Times New Roman"/>
              </a:rPr>
              <a:t>Introduction</a:t>
            </a:r>
            <a:endParaRPr sz="2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0"/>
              </a:spcBef>
              <a:buAutoNum type="arabicPeriod"/>
              <a:tabLst>
                <a:tab pos="527685" algn="l"/>
              </a:tabLst>
            </a:pP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Organization</a:t>
            </a:r>
            <a:endParaRPr sz="2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7685" algn="l"/>
              </a:tabLst>
            </a:pPr>
            <a:r>
              <a:rPr sz="2800" spc="-20" dirty="0">
                <a:latin typeface="Times New Roman"/>
                <a:cs typeface="Times New Roman"/>
              </a:rPr>
              <a:t>Internship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Overview</a:t>
            </a:r>
            <a:endParaRPr sz="2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800" spc="-40" dirty="0">
                <a:latin typeface="Times New Roman"/>
                <a:cs typeface="Times New Roman"/>
              </a:rPr>
              <a:t>Tasks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Performed</a:t>
            </a:r>
            <a:endParaRPr sz="2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800" spc="-30" dirty="0">
                <a:latin typeface="Times New Roman"/>
                <a:cs typeface="Times New Roman"/>
              </a:rPr>
              <a:t>Tools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Technologies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Used</a:t>
            </a:r>
            <a:endParaRPr sz="2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800" dirty="0">
                <a:latin typeface="Times New Roman"/>
                <a:cs typeface="Times New Roman"/>
              </a:rPr>
              <a:t>Key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Learnings</a:t>
            </a:r>
            <a:endParaRPr sz="2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800" dirty="0">
                <a:latin typeface="Times New Roman"/>
                <a:cs typeface="Times New Roman"/>
              </a:rPr>
              <a:t>Practical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Experience</a:t>
            </a:r>
            <a:endParaRPr sz="2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800" spc="-10" dirty="0">
                <a:latin typeface="Times New Roman"/>
                <a:cs typeface="Times New Roman"/>
              </a:rPr>
              <a:t>Challenges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Faced</a:t>
            </a:r>
            <a:endParaRPr sz="2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800" dirty="0">
                <a:latin typeface="Times New Roman"/>
                <a:cs typeface="Times New Roman"/>
              </a:rPr>
              <a:t>Solutions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Improvements</a:t>
            </a:r>
            <a:endParaRPr sz="2800" dirty="0">
              <a:latin typeface="Times New Roman"/>
              <a:cs typeface="Times New Roman"/>
            </a:endParaRPr>
          </a:p>
          <a:p>
            <a:pPr marL="526415" indent="-51371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6415" algn="l"/>
              </a:tabLst>
            </a:pPr>
            <a:r>
              <a:rPr sz="2800" dirty="0">
                <a:latin typeface="Times New Roman"/>
                <a:cs typeface="Times New Roman"/>
              </a:rPr>
              <a:t>Skills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Developed</a:t>
            </a:r>
            <a:endParaRPr sz="2800" dirty="0">
              <a:latin typeface="Times New Roman"/>
              <a:cs typeface="Times New Roman"/>
            </a:endParaRPr>
          </a:p>
          <a:p>
            <a:pPr marL="526415" indent="-513715">
              <a:lnSpc>
                <a:spcPct val="100000"/>
              </a:lnSpc>
              <a:buAutoNum type="arabicPeriod"/>
              <a:tabLst>
                <a:tab pos="526415" algn="l"/>
              </a:tabLst>
            </a:pPr>
            <a:r>
              <a:rPr sz="2800" spc="-10" dirty="0">
                <a:latin typeface="Times New Roman"/>
                <a:cs typeface="Times New Roman"/>
              </a:rPr>
              <a:t>Learning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Outcomes</a:t>
            </a:r>
            <a:endParaRPr sz="2800" dirty="0">
              <a:latin typeface="Times New Roman"/>
              <a:cs typeface="Times New Roman"/>
            </a:endParaRPr>
          </a:p>
          <a:p>
            <a:pPr marL="526415" indent="-513715">
              <a:lnSpc>
                <a:spcPct val="100000"/>
              </a:lnSpc>
              <a:buAutoNum type="arabicPeriod"/>
              <a:tabLst>
                <a:tab pos="526415" algn="l"/>
              </a:tabLst>
            </a:pPr>
            <a:r>
              <a:rPr sz="2800" spc="-10" dirty="0">
                <a:latin typeface="Times New Roman"/>
                <a:cs typeface="Times New Roman"/>
              </a:rPr>
              <a:t>Conclusion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96215" y="43815"/>
            <a:ext cx="1655699" cy="15157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4629256" cy="822896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6061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6900" y="1542567"/>
            <a:ext cx="11527790" cy="450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indent="-515620">
              <a:lnSpc>
                <a:spcPct val="149400"/>
              </a:lnSpc>
              <a:spcBef>
                <a:spcPts val="100"/>
              </a:spcBef>
              <a:buFont typeface="Arial MT"/>
              <a:buChar char="•"/>
              <a:tabLst>
                <a:tab pos="527685" algn="l"/>
                <a:tab pos="1458595" algn="l"/>
                <a:tab pos="2982595" algn="l"/>
                <a:tab pos="3481070" algn="l"/>
                <a:tab pos="4176395" algn="l"/>
                <a:tab pos="5504180" algn="l"/>
                <a:tab pos="6062980" algn="l"/>
                <a:tab pos="7813040" algn="l"/>
                <a:tab pos="9367520" algn="l"/>
                <a:tab pos="11007725" algn="l"/>
              </a:tabLst>
            </a:pPr>
            <a:r>
              <a:rPr sz="2800" spc="-20" dirty="0">
                <a:latin typeface="Times New Roman"/>
                <a:cs typeface="Times New Roman"/>
              </a:rPr>
              <a:t>Data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analytics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process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collecting,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cleaning,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analyzing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3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interpreting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make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decisions.</a:t>
            </a:r>
            <a:endParaRPr sz="2800">
              <a:latin typeface="Times New Roman"/>
              <a:cs typeface="Times New Roman"/>
            </a:endParaRPr>
          </a:p>
          <a:p>
            <a:pPr marL="527685" marR="224790" indent="-515620">
              <a:lnSpc>
                <a:spcPct val="149300"/>
              </a:lnSpc>
              <a:spcBef>
                <a:spcPts val="45"/>
              </a:spcBef>
              <a:buFont typeface="Arial MT"/>
              <a:buChar char="•"/>
              <a:tabLst>
                <a:tab pos="527685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helps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organizations</a:t>
            </a:r>
            <a:r>
              <a:rPr sz="2800" spc="3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understand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trends,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performance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solve </a:t>
            </a:r>
            <a:r>
              <a:rPr sz="2800" dirty="0">
                <a:latin typeface="Times New Roman"/>
                <a:cs typeface="Times New Roman"/>
              </a:rPr>
              <a:t>problems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data.</a:t>
            </a:r>
            <a:endParaRPr sz="2800">
              <a:latin typeface="Times New Roman"/>
              <a:cs typeface="Times New Roman"/>
            </a:endParaRPr>
          </a:p>
          <a:p>
            <a:pPr marL="527685" marR="105410" indent="-515620">
              <a:lnSpc>
                <a:spcPct val="149400"/>
              </a:lnSpc>
              <a:spcBef>
                <a:spcPts val="35"/>
              </a:spcBef>
              <a:buFont typeface="Arial MT"/>
              <a:buChar char="•"/>
              <a:tabLst>
                <a:tab pos="527685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analytics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widely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business,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healthcare,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finance,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marketing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make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drive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decisions.</a:t>
            </a:r>
            <a:endParaRPr sz="2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689"/>
              </a:spcBef>
              <a:buFont typeface="Arial MT"/>
              <a:buChar char="•"/>
              <a:tabLst>
                <a:tab pos="527685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improve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efficiency,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productivity,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overall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outcomes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effectively.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96215" y="43815"/>
            <a:ext cx="1655699" cy="151574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689330" y="7714260"/>
            <a:ext cx="153035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4629256" cy="822896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80975" y="0"/>
            <a:ext cx="7023100" cy="8229600"/>
            <a:chOff x="180975" y="0"/>
            <a:chExt cx="7023100" cy="8229600"/>
          </a:xfrm>
        </p:grpSpPr>
        <p:sp>
          <p:nvSpPr>
            <p:cNvPr id="4" name="object 4"/>
            <p:cNvSpPr/>
            <p:nvPr/>
          </p:nvSpPr>
          <p:spPr>
            <a:xfrm>
              <a:off x="548601" y="0"/>
              <a:ext cx="1346835" cy="6395085"/>
            </a:xfrm>
            <a:custGeom>
              <a:avLst/>
              <a:gdLst/>
              <a:ahLst/>
              <a:cxnLst/>
              <a:rect l="l" t="t" r="r" b="b"/>
              <a:pathLst>
                <a:path w="1346835" h="6395085">
                  <a:moveTo>
                    <a:pt x="1346746" y="0"/>
                  </a:moveTo>
                  <a:lnTo>
                    <a:pt x="1041946" y="0"/>
                  </a:lnTo>
                  <a:lnTo>
                    <a:pt x="0" y="6343650"/>
                  </a:lnTo>
                  <a:lnTo>
                    <a:pt x="297154" y="6395085"/>
                  </a:lnTo>
                  <a:lnTo>
                    <a:pt x="1346746" y="0"/>
                  </a:lnTo>
                  <a:close/>
                </a:path>
              </a:pathLst>
            </a:custGeom>
            <a:solidFill>
              <a:srgbClr val="2EA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0975" y="0"/>
              <a:ext cx="1341120" cy="6332220"/>
            </a:xfrm>
            <a:custGeom>
              <a:avLst/>
              <a:gdLst/>
              <a:ahLst/>
              <a:cxnLst/>
              <a:rect l="l" t="t" r="r" b="b"/>
              <a:pathLst>
                <a:path w="1341120" h="6332220">
                  <a:moveTo>
                    <a:pt x="1340993" y="0"/>
                  </a:moveTo>
                  <a:lnTo>
                    <a:pt x="1038136" y="0"/>
                  </a:lnTo>
                  <a:lnTo>
                    <a:pt x="0" y="6286500"/>
                  </a:lnTo>
                  <a:lnTo>
                    <a:pt x="299059" y="6332220"/>
                  </a:lnTo>
                  <a:lnTo>
                    <a:pt x="1340993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0975" y="6286500"/>
              <a:ext cx="1474470" cy="1943100"/>
            </a:xfrm>
            <a:custGeom>
              <a:avLst/>
              <a:gdLst/>
              <a:ahLst/>
              <a:cxnLst/>
              <a:rect l="l" t="t" r="r" b="b"/>
              <a:pathLst>
                <a:path w="1474470" h="1943100">
                  <a:moveTo>
                    <a:pt x="0" y="0"/>
                  </a:moveTo>
                  <a:lnTo>
                    <a:pt x="1409573" y="1943099"/>
                  </a:lnTo>
                  <a:lnTo>
                    <a:pt x="1474343" y="1943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601" y="6349365"/>
              <a:ext cx="1794510" cy="1880235"/>
            </a:xfrm>
            <a:custGeom>
              <a:avLst/>
              <a:gdLst/>
              <a:ahLst/>
              <a:cxnLst/>
              <a:rect l="l" t="t" r="r" b="b"/>
              <a:pathLst>
                <a:path w="1794510" h="1880234">
                  <a:moveTo>
                    <a:pt x="0" y="0"/>
                  </a:moveTo>
                  <a:lnTo>
                    <a:pt x="1731556" y="1880235"/>
                  </a:lnTo>
                  <a:lnTo>
                    <a:pt x="1794294" y="18802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5A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8601" y="6343650"/>
              <a:ext cx="2556510" cy="1885950"/>
            </a:xfrm>
            <a:custGeom>
              <a:avLst/>
              <a:gdLst/>
              <a:ahLst/>
              <a:cxnLst/>
              <a:rect l="l" t="t" r="r" b="b"/>
              <a:pathLst>
                <a:path w="2556510" h="1885950">
                  <a:moveTo>
                    <a:pt x="0" y="0"/>
                  </a:moveTo>
                  <a:lnTo>
                    <a:pt x="0" y="5714"/>
                  </a:lnTo>
                  <a:lnTo>
                    <a:pt x="1794294" y="1885949"/>
                  </a:lnTo>
                  <a:lnTo>
                    <a:pt x="2556294" y="1885949"/>
                  </a:lnTo>
                  <a:lnTo>
                    <a:pt x="297154" y="51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8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0975" y="6286500"/>
              <a:ext cx="2034539" cy="1943100"/>
            </a:xfrm>
            <a:custGeom>
              <a:avLst/>
              <a:gdLst/>
              <a:ahLst/>
              <a:cxnLst/>
              <a:rect l="l" t="t" r="r" b="b"/>
              <a:pathLst>
                <a:path w="2034539" h="1943100">
                  <a:moveTo>
                    <a:pt x="0" y="0"/>
                  </a:moveTo>
                  <a:lnTo>
                    <a:pt x="1474343" y="1943099"/>
                  </a:lnTo>
                  <a:lnTo>
                    <a:pt x="2034413" y="1943099"/>
                  </a:lnTo>
                  <a:lnTo>
                    <a:pt x="350481" y="114300"/>
                  </a:lnTo>
                  <a:lnTo>
                    <a:pt x="293344" y="51435"/>
                  </a:lnTo>
                  <a:lnTo>
                    <a:pt x="299059" y="51435"/>
                  </a:lnTo>
                  <a:lnTo>
                    <a:pt x="299059" y="45719"/>
                  </a:lnTo>
                  <a:lnTo>
                    <a:pt x="293344" y="45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5219" y="2012823"/>
              <a:ext cx="5578475" cy="2155063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7383780" y="43815"/>
            <a:ext cx="7169150" cy="4689475"/>
            <a:chOff x="7383780" y="43815"/>
            <a:chExt cx="7169150" cy="4689475"/>
          </a:xfrm>
        </p:grpSpPr>
        <p:sp>
          <p:nvSpPr>
            <p:cNvPr id="12" name="object 12"/>
            <p:cNvSpPr/>
            <p:nvPr/>
          </p:nvSpPr>
          <p:spPr>
            <a:xfrm>
              <a:off x="7395210" y="1613281"/>
              <a:ext cx="6329045" cy="3108960"/>
            </a:xfrm>
            <a:custGeom>
              <a:avLst/>
              <a:gdLst/>
              <a:ahLst/>
              <a:cxnLst/>
              <a:rect l="l" t="t" r="r" b="b"/>
              <a:pathLst>
                <a:path w="6329044" h="3108960">
                  <a:moveTo>
                    <a:pt x="0" y="234696"/>
                  </a:moveTo>
                  <a:lnTo>
                    <a:pt x="4825" y="187325"/>
                  </a:lnTo>
                  <a:lnTo>
                    <a:pt x="18415" y="143383"/>
                  </a:lnTo>
                  <a:lnTo>
                    <a:pt x="40005" y="103504"/>
                  </a:lnTo>
                  <a:lnTo>
                    <a:pt x="68707" y="68707"/>
                  </a:lnTo>
                  <a:lnTo>
                    <a:pt x="103505" y="40004"/>
                  </a:lnTo>
                  <a:lnTo>
                    <a:pt x="143383" y="18415"/>
                  </a:lnTo>
                  <a:lnTo>
                    <a:pt x="187325" y="4825"/>
                  </a:lnTo>
                  <a:lnTo>
                    <a:pt x="234696" y="0"/>
                  </a:lnTo>
                  <a:lnTo>
                    <a:pt x="6094222" y="0"/>
                  </a:lnTo>
                  <a:lnTo>
                    <a:pt x="6141593" y="4825"/>
                  </a:lnTo>
                  <a:lnTo>
                    <a:pt x="6185534" y="18415"/>
                  </a:lnTo>
                  <a:lnTo>
                    <a:pt x="6225413" y="40004"/>
                  </a:lnTo>
                  <a:lnTo>
                    <a:pt x="6260211" y="68707"/>
                  </a:lnTo>
                  <a:lnTo>
                    <a:pt x="6288786" y="103504"/>
                  </a:lnTo>
                  <a:lnTo>
                    <a:pt x="6310503" y="143383"/>
                  </a:lnTo>
                  <a:lnTo>
                    <a:pt x="6324092" y="187325"/>
                  </a:lnTo>
                  <a:lnTo>
                    <a:pt x="6328918" y="234696"/>
                  </a:lnTo>
                  <a:lnTo>
                    <a:pt x="6328918" y="2873756"/>
                  </a:lnTo>
                  <a:lnTo>
                    <a:pt x="6324092" y="2921127"/>
                  </a:lnTo>
                  <a:lnTo>
                    <a:pt x="6310503" y="2965196"/>
                  </a:lnTo>
                  <a:lnTo>
                    <a:pt x="6288786" y="3005074"/>
                  </a:lnTo>
                  <a:lnTo>
                    <a:pt x="6260211" y="3039745"/>
                  </a:lnTo>
                  <a:lnTo>
                    <a:pt x="6225413" y="3068447"/>
                  </a:lnTo>
                  <a:lnTo>
                    <a:pt x="6185534" y="3090164"/>
                  </a:lnTo>
                  <a:lnTo>
                    <a:pt x="6141593" y="3103753"/>
                  </a:lnTo>
                  <a:lnTo>
                    <a:pt x="6094222" y="3108579"/>
                  </a:lnTo>
                  <a:lnTo>
                    <a:pt x="234696" y="3108579"/>
                  </a:lnTo>
                  <a:lnTo>
                    <a:pt x="187325" y="3103753"/>
                  </a:lnTo>
                  <a:lnTo>
                    <a:pt x="143383" y="3090164"/>
                  </a:lnTo>
                  <a:lnTo>
                    <a:pt x="103505" y="3068447"/>
                  </a:lnTo>
                  <a:lnTo>
                    <a:pt x="68707" y="3039745"/>
                  </a:lnTo>
                  <a:lnTo>
                    <a:pt x="40005" y="3005074"/>
                  </a:lnTo>
                  <a:lnTo>
                    <a:pt x="18415" y="2965196"/>
                  </a:lnTo>
                  <a:lnTo>
                    <a:pt x="4825" y="2921127"/>
                  </a:lnTo>
                  <a:lnTo>
                    <a:pt x="0" y="2873756"/>
                  </a:lnTo>
                  <a:lnTo>
                    <a:pt x="0" y="234696"/>
                  </a:lnTo>
                  <a:close/>
                </a:path>
              </a:pathLst>
            </a:custGeom>
            <a:ln w="22860">
              <a:solidFill>
                <a:srgbClr val="DAB8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96215" y="43815"/>
              <a:ext cx="1656207" cy="1516252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862073" y="34544"/>
            <a:ext cx="6628130" cy="133096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 indent="226695">
              <a:lnSpc>
                <a:spcPts val="4990"/>
              </a:lnSpc>
              <a:spcBef>
                <a:spcPts val="495"/>
              </a:spcBef>
            </a:pPr>
            <a:r>
              <a:rPr spc="-35" dirty="0"/>
              <a:t>About</a:t>
            </a:r>
            <a:r>
              <a:rPr spc="-245" dirty="0"/>
              <a:t> </a:t>
            </a:r>
            <a:r>
              <a:rPr spc="-35" dirty="0"/>
              <a:t>the</a:t>
            </a:r>
            <a:r>
              <a:rPr spc="-250" dirty="0"/>
              <a:t> </a:t>
            </a:r>
            <a:r>
              <a:rPr spc="-10" dirty="0"/>
              <a:t>Organization: </a:t>
            </a:r>
            <a:r>
              <a:rPr spc="-45" dirty="0"/>
              <a:t>Dyashin</a:t>
            </a:r>
            <a:r>
              <a:rPr spc="-285" dirty="0"/>
              <a:t> </a:t>
            </a:r>
            <a:r>
              <a:rPr spc="-45" dirty="0"/>
              <a:t>TechnoSoft</a:t>
            </a:r>
            <a:r>
              <a:rPr spc="-235" dirty="0"/>
              <a:t> </a:t>
            </a:r>
            <a:r>
              <a:rPr spc="-30" dirty="0"/>
              <a:t>Pvt</a:t>
            </a:r>
            <a:r>
              <a:rPr spc="-225" dirty="0"/>
              <a:t> </a:t>
            </a:r>
            <a:r>
              <a:rPr spc="-25" dirty="0"/>
              <a:t>Ltd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7383780" y="4780788"/>
            <a:ext cx="6351905" cy="3156585"/>
            <a:chOff x="7383780" y="4780788"/>
            <a:chExt cx="6351905" cy="3156585"/>
          </a:xfrm>
        </p:grpSpPr>
        <p:sp>
          <p:nvSpPr>
            <p:cNvPr id="16" name="object 16"/>
            <p:cNvSpPr/>
            <p:nvPr/>
          </p:nvSpPr>
          <p:spPr>
            <a:xfrm>
              <a:off x="7395210" y="4792218"/>
              <a:ext cx="6329045" cy="3133725"/>
            </a:xfrm>
            <a:custGeom>
              <a:avLst/>
              <a:gdLst/>
              <a:ahLst/>
              <a:cxnLst/>
              <a:rect l="l" t="t" r="r" b="b"/>
              <a:pathLst>
                <a:path w="6329044" h="3133725">
                  <a:moveTo>
                    <a:pt x="6092317" y="0"/>
                  </a:moveTo>
                  <a:lnTo>
                    <a:pt x="236600" y="0"/>
                  </a:lnTo>
                  <a:lnTo>
                    <a:pt x="188975" y="4826"/>
                  </a:lnTo>
                  <a:lnTo>
                    <a:pt x="144525" y="18542"/>
                  </a:lnTo>
                  <a:lnTo>
                    <a:pt x="104267" y="40386"/>
                  </a:lnTo>
                  <a:lnTo>
                    <a:pt x="69342" y="69342"/>
                  </a:lnTo>
                  <a:lnTo>
                    <a:pt x="40386" y="104267"/>
                  </a:lnTo>
                  <a:lnTo>
                    <a:pt x="18542" y="144526"/>
                  </a:lnTo>
                  <a:lnTo>
                    <a:pt x="4825" y="188976"/>
                  </a:lnTo>
                  <a:lnTo>
                    <a:pt x="0" y="236601"/>
                  </a:lnTo>
                  <a:lnTo>
                    <a:pt x="0" y="2896857"/>
                  </a:lnTo>
                  <a:lnTo>
                    <a:pt x="4825" y="2944545"/>
                  </a:lnTo>
                  <a:lnTo>
                    <a:pt x="18542" y="2988970"/>
                  </a:lnTo>
                  <a:lnTo>
                    <a:pt x="40386" y="3029165"/>
                  </a:lnTo>
                  <a:lnTo>
                    <a:pt x="69342" y="3064192"/>
                  </a:lnTo>
                  <a:lnTo>
                    <a:pt x="104267" y="3093085"/>
                  </a:lnTo>
                  <a:lnTo>
                    <a:pt x="144525" y="3114916"/>
                  </a:lnTo>
                  <a:lnTo>
                    <a:pt x="188975" y="3128695"/>
                  </a:lnTo>
                  <a:lnTo>
                    <a:pt x="236600" y="3133509"/>
                  </a:lnTo>
                  <a:lnTo>
                    <a:pt x="6092317" y="3133509"/>
                  </a:lnTo>
                  <a:lnTo>
                    <a:pt x="6139942" y="3128695"/>
                  </a:lnTo>
                  <a:lnTo>
                    <a:pt x="6184392" y="3114916"/>
                  </a:lnTo>
                  <a:lnTo>
                    <a:pt x="6224651" y="3093085"/>
                  </a:lnTo>
                  <a:lnTo>
                    <a:pt x="6259576" y="3064192"/>
                  </a:lnTo>
                  <a:lnTo>
                    <a:pt x="6288532" y="3029165"/>
                  </a:lnTo>
                  <a:lnTo>
                    <a:pt x="6310376" y="2988970"/>
                  </a:lnTo>
                  <a:lnTo>
                    <a:pt x="6324092" y="2944545"/>
                  </a:lnTo>
                  <a:lnTo>
                    <a:pt x="6328918" y="2896857"/>
                  </a:lnTo>
                  <a:lnTo>
                    <a:pt x="6328918" y="236601"/>
                  </a:lnTo>
                  <a:lnTo>
                    <a:pt x="6324092" y="188976"/>
                  </a:lnTo>
                  <a:lnTo>
                    <a:pt x="6310376" y="144526"/>
                  </a:lnTo>
                  <a:lnTo>
                    <a:pt x="6288532" y="104267"/>
                  </a:lnTo>
                  <a:lnTo>
                    <a:pt x="6259576" y="69342"/>
                  </a:lnTo>
                  <a:lnTo>
                    <a:pt x="6224651" y="40386"/>
                  </a:lnTo>
                  <a:lnTo>
                    <a:pt x="6184392" y="18542"/>
                  </a:lnTo>
                  <a:lnTo>
                    <a:pt x="6139942" y="4826"/>
                  </a:lnTo>
                  <a:lnTo>
                    <a:pt x="6092317" y="0"/>
                  </a:lnTo>
                  <a:close/>
                </a:path>
              </a:pathLst>
            </a:custGeom>
            <a:solidFill>
              <a:srgbClr val="FFFFFF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95210" y="4792218"/>
              <a:ext cx="6329045" cy="3133725"/>
            </a:xfrm>
            <a:custGeom>
              <a:avLst/>
              <a:gdLst/>
              <a:ahLst/>
              <a:cxnLst/>
              <a:rect l="l" t="t" r="r" b="b"/>
              <a:pathLst>
                <a:path w="6329044" h="3133725">
                  <a:moveTo>
                    <a:pt x="0" y="236601"/>
                  </a:moveTo>
                  <a:lnTo>
                    <a:pt x="4825" y="188976"/>
                  </a:lnTo>
                  <a:lnTo>
                    <a:pt x="18542" y="144526"/>
                  </a:lnTo>
                  <a:lnTo>
                    <a:pt x="40386" y="104267"/>
                  </a:lnTo>
                  <a:lnTo>
                    <a:pt x="69342" y="69342"/>
                  </a:lnTo>
                  <a:lnTo>
                    <a:pt x="104267" y="40386"/>
                  </a:lnTo>
                  <a:lnTo>
                    <a:pt x="144525" y="18542"/>
                  </a:lnTo>
                  <a:lnTo>
                    <a:pt x="188975" y="4826"/>
                  </a:lnTo>
                  <a:lnTo>
                    <a:pt x="236600" y="0"/>
                  </a:lnTo>
                  <a:lnTo>
                    <a:pt x="6092317" y="0"/>
                  </a:lnTo>
                  <a:lnTo>
                    <a:pt x="6139942" y="4826"/>
                  </a:lnTo>
                  <a:lnTo>
                    <a:pt x="6184392" y="18542"/>
                  </a:lnTo>
                  <a:lnTo>
                    <a:pt x="6224651" y="40386"/>
                  </a:lnTo>
                  <a:lnTo>
                    <a:pt x="6259576" y="69342"/>
                  </a:lnTo>
                  <a:lnTo>
                    <a:pt x="6288532" y="104267"/>
                  </a:lnTo>
                  <a:lnTo>
                    <a:pt x="6310376" y="144526"/>
                  </a:lnTo>
                  <a:lnTo>
                    <a:pt x="6324092" y="188976"/>
                  </a:lnTo>
                  <a:lnTo>
                    <a:pt x="6328918" y="236601"/>
                  </a:lnTo>
                  <a:lnTo>
                    <a:pt x="6328918" y="2896857"/>
                  </a:lnTo>
                  <a:lnTo>
                    <a:pt x="6324092" y="2944545"/>
                  </a:lnTo>
                  <a:lnTo>
                    <a:pt x="6310376" y="2988970"/>
                  </a:lnTo>
                  <a:lnTo>
                    <a:pt x="6288532" y="3029165"/>
                  </a:lnTo>
                  <a:lnTo>
                    <a:pt x="6259576" y="3064192"/>
                  </a:lnTo>
                  <a:lnTo>
                    <a:pt x="6224651" y="3093085"/>
                  </a:lnTo>
                  <a:lnTo>
                    <a:pt x="6184392" y="3114916"/>
                  </a:lnTo>
                  <a:lnTo>
                    <a:pt x="6139942" y="3128695"/>
                  </a:lnTo>
                  <a:lnTo>
                    <a:pt x="6092317" y="3133509"/>
                  </a:lnTo>
                  <a:lnTo>
                    <a:pt x="236600" y="3133509"/>
                  </a:lnTo>
                  <a:lnTo>
                    <a:pt x="188975" y="3128695"/>
                  </a:lnTo>
                  <a:lnTo>
                    <a:pt x="144525" y="3114916"/>
                  </a:lnTo>
                  <a:lnTo>
                    <a:pt x="104267" y="3093085"/>
                  </a:lnTo>
                  <a:lnTo>
                    <a:pt x="69342" y="3064192"/>
                  </a:lnTo>
                  <a:lnTo>
                    <a:pt x="40386" y="3029165"/>
                  </a:lnTo>
                  <a:lnTo>
                    <a:pt x="18542" y="2988970"/>
                  </a:lnTo>
                  <a:lnTo>
                    <a:pt x="4825" y="2944545"/>
                  </a:lnTo>
                  <a:lnTo>
                    <a:pt x="0" y="2896857"/>
                  </a:lnTo>
                  <a:lnTo>
                    <a:pt x="0" y="236601"/>
                  </a:lnTo>
                  <a:close/>
                </a:path>
              </a:pathLst>
            </a:custGeom>
            <a:ln w="22860">
              <a:solidFill>
                <a:srgbClr val="DAB8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604886" y="1619758"/>
            <a:ext cx="5929630" cy="62077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1280" marR="5080">
              <a:lnSpc>
                <a:spcPct val="99400"/>
              </a:lnSpc>
              <a:spcBef>
                <a:spcPts val="114"/>
              </a:spcBef>
            </a:pPr>
            <a:r>
              <a:rPr sz="2800" b="1" spc="-10" dirty="0">
                <a:latin typeface="Times New Roman"/>
                <a:cs typeface="Times New Roman"/>
              </a:rPr>
              <a:t>Dyashin</a:t>
            </a:r>
            <a:r>
              <a:rPr sz="2800" b="1" spc="-1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Technosoft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Pvt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Ltd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</a:t>
            </a:r>
            <a:r>
              <a:rPr sz="2800" spc="-10" dirty="0">
                <a:latin typeface="Times New Roman"/>
                <a:cs typeface="Times New Roman"/>
              </a:rPr>
              <a:t>technology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company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Bengaluru, </a:t>
            </a:r>
            <a:r>
              <a:rPr sz="2800" dirty="0">
                <a:latin typeface="Times New Roman"/>
                <a:cs typeface="Times New Roman"/>
              </a:rPr>
              <a:t>India,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founded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2023</a:t>
            </a:r>
            <a:r>
              <a:rPr sz="2800" dirty="0">
                <a:latin typeface="Times New Roman"/>
                <a:cs typeface="Times New Roman"/>
              </a:rPr>
              <a:t>.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provides </a:t>
            </a:r>
            <a:r>
              <a:rPr sz="2800" dirty="0">
                <a:latin typeface="Times New Roman"/>
                <a:cs typeface="Times New Roman"/>
              </a:rPr>
              <a:t>innovative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solutions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software </a:t>
            </a:r>
            <a:r>
              <a:rPr sz="2800" b="1" dirty="0">
                <a:latin typeface="Times New Roman"/>
                <a:cs typeface="Times New Roman"/>
              </a:rPr>
              <a:t>development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data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science,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data </a:t>
            </a:r>
            <a:r>
              <a:rPr sz="2800" b="1" dirty="0">
                <a:latin typeface="Times New Roman"/>
                <a:cs typeface="Times New Roman"/>
              </a:rPr>
              <a:t>analytics,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artificial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intelligence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and </a:t>
            </a:r>
            <a:r>
              <a:rPr sz="2800" b="1" dirty="0">
                <a:latin typeface="Times New Roman"/>
                <a:cs typeface="Times New Roman"/>
              </a:rPr>
              <a:t>web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development.</a:t>
            </a:r>
            <a:endParaRPr sz="2800">
              <a:latin typeface="Times New Roman"/>
              <a:cs typeface="Times New Roman"/>
            </a:endParaRPr>
          </a:p>
          <a:p>
            <a:pPr marL="12700" marR="389255">
              <a:lnSpc>
                <a:spcPct val="99400"/>
              </a:lnSpc>
              <a:spcBef>
                <a:spcPts val="1889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company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focuses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building </a:t>
            </a:r>
            <a:r>
              <a:rPr sz="2800" dirty="0">
                <a:latin typeface="Times New Roman"/>
                <a:cs typeface="Times New Roman"/>
              </a:rPr>
              <a:t>practical,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data-</a:t>
            </a:r>
            <a:r>
              <a:rPr sz="2800" dirty="0">
                <a:latin typeface="Times New Roman"/>
                <a:cs typeface="Times New Roman"/>
              </a:rPr>
              <a:t>driven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applications</a:t>
            </a:r>
            <a:r>
              <a:rPr sz="2800" spc="-20" dirty="0">
                <a:latin typeface="Times New Roman"/>
                <a:cs typeface="Times New Roman"/>
              </a:rPr>
              <a:t> that </a:t>
            </a:r>
            <a:r>
              <a:rPr sz="2800" dirty="0">
                <a:latin typeface="Times New Roman"/>
                <a:cs typeface="Times New Roman"/>
              </a:rPr>
              <a:t>help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businesses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efficiency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make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better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decisions.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0" dirty="0">
                <a:latin typeface="Times New Roman"/>
                <a:cs typeface="Times New Roman"/>
              </a:rPr>
              <a:t> emphasizes </a:t>
            </a:r>
            <a:r>
              <a:rPr sz="2800" dirty="0">
                <a:latin typeface="Times New Roman"/>
                <a:cs typeface="Times New Roman"/>
              </a:rPr>
              <a:t>modern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technologies,quality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solutions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innovation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support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digital transformation.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62710" y="7859267"/>
            <a:ext cx="1397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5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80945" y="365506"/>
            <a:ext cx="49606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Internship</a:t>
            </a:r>
            <a:r>
              <a:rPr spc="-13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0945" y="1447800"/>
            <a:ext cx="11141710" cy="43979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Company Name:</a:t>
            </a:r>
            <a:r>
              <a:rPr lang="en-US" sz="2800" dirty="0"/>
              <a:t> </a:t>
            </a:r>
            <a:r>
              <a:rPr lang="en-US" sz="2800" dirty="0" err="1"/>
              <a:t>Dyashin</a:t>
            </a:r>
            <a:r>
              <a:rPr lang="en-US" sz="2800" dirty="0"/>
              <a:t> </a:t>
            </a:r>
            <a:r>
              <a:rPr lang="en-US" sz="2800" dirty="0" err="1"/>
              <a:t>TechnoSoft</a:t>
            </a:r>
            <a:r>
              <a:rPr lang="en-US" sz="2800" dirty="0"/>
              <a:t> Pvt Ltd</a:t>
            </a: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Internship Domain:</a:t>
            </a:r>
            <a:r>
              <a:rPr lang="en-US" sz="2800" dirty="0"/>
              <a:t> Data Analytics</a:t>
            </a: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Duration:</a:t>
            </a:r>
            <a:r>
              <a:rPr lang="en-US" sz="2800" dirty="0"/>
              <a:t> 4 Months</a:t>
            </a: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Project Title:</a:t>
            </a:r>
            <a:r>
              <a:rPr lang="en-US" sz="2800" dirty="0"/>
              <a:t> E-Commerce Sales Performance Analysis</a:t>
            </a: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Tools Used:</a:t>
            </a:r>
            <a:r>
              <a:rPr lang="en-US" sz="2800" dirty="0"/>
              <a:t> Power BI, Excel, Power Query, DAX</a:t>
            </a: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Objective:</a:t>
            </a:r>
            <a:r>
              <a:rPr lang="en-US" sz="2800" dirty="0"/>
              <a:t> To analyze e-commerce sales data and generate meaningful business insights through interactive dashboards and visualizations.</a:t>
            </a: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Outcome:</a:t>
            </a:r>
            <a:r>
              <a:rPr lang="en-US" sz="2800" dirty="0"/>
              <a:t> Developed practical skills in data cleaning, analysis, dashboard creation, and business reporting.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6215" y="43815"/>
            <a:ext cx="1655699" cy="15157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887450" y="7671815"/>
            <a:ext cx="1397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50" dirty="0"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6061" rIns="0" bIns="0" rtlCol="0">
            <a:spAutoFit/>
          </a:bodyPr>
          <a:lstStyle/>
          <a:p>
            <a:pPr marL="1867535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Task</a:t>
            </a:r>
            <a:r>
              <a:rPr spc="-270" dirty="0"/>
              <a:t> </a:t>
            </a:r>
            <a:r>
              <a:rPr spc="-10" dirty="0"/>
              <a:t>Performed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8144" y="1588287"/>
            <a:ext cx="8763255" cy="4521751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800" dirty="0"/>
              <a:t>Collected and imported the e-commerce dataset.</a:t>
            </a:r>
          </a:p>
          <a:p>
            <a:pPr marL="469265" indent="-45656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800" dirty="0"/>
              <a:t>Cleaned and preprocessed the data. Removed missing and duplicate values.</a:t>
            </a:r>
          </a:p>
          <a:p>
            <a:pPr marL="469265" indent="-45656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800" dirty="0"/>
              <a:t>Performed data transformation and analysis.</a:t>
            </a:r>
          </a:p>
          <a:p>
            <a:pPr marL="469265" indent="-45656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800" dirty="0"/>
              <a:t>Created KPIs and calculated measures.</a:t>
            </a:r>
          </a:p>
          <a:p>
            <a:pPr marL="469265" indent="-45656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800" dirty="0"/>
              <a:t>Developed interactive Power BI dashboards. </a:t>
            </a:r>
          </a:p>
          <a:p>
            <a:pPr marL="469265" indent="-45656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800" dirty="0"/>
              <a:t>Analyzed customer behavior and sales trends. </a:t>
            </a:r>
          </a:p>
          <a:p>
            <a:pPr marL="469265" indent="-45656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800" dirty="0"/>
              <a:t>Generated business insights and reports.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6215" y="43815"/>
            <a:ext cx="1655699" cy="15157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872210" y="7746491"/>
            <a:ext cx="19558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75"/>
              </a:lnSpc>
            </a:pPr>
            <a:fld id="{81D60167-4931-47E6-BA6A-407CBD079E47}" type="slidenum">
              <a:rPr sz="1800" spc="-50" dirty="0">
                <a:latin typeface="Times New Roman"/>
                <a:cs typeface="Times New Roman"/>
              </a:rPr>
              <a:t>6</a:t>
            </a:fld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object 11"/>
          <p:cNvGrpSpPr/>
          <p:nvPr/>
        </p:nvGrpSpPr>
        <p:grpSpPr>
          <a:xfrm>
            <a:off x="180975" y="0"/>
            <a:ext cx="2924175" cy="8229600"/>
            <a:chOff x="180975" y="0"/>
            <a:chExt cx="2924175" cy="8229600"/>
          </a:xfrm>
        </p:grpSpPr>
        <p:sp>
          <p:nvSpPr>
            <p:cNvPr id="12" name="object 12"/>
            <p:cNvSpPr/>
            <p:nvPr/>
          </p:nvSpPr>
          <p:spPr>
            <a:xfrm>
              <a:off x="548640" y="0"/>
              <a:ext cx="1346835" cy="6395085"/>
            </a:xfrm>
            <a:custGeom>
              <a:avLst/>
              <a:gdLst/>
              <a:ahLst/>
              <a:cxnLst/>
              <a:rect l="l" t="t" r="r" b="b"/>
              <a:pathLst>
                <a:path w="1346835" h="6395085">
                  <a:moveTo>
                    <a:pt x="1346835" y="0"/>
                  </a:moveTo>
                  <a:lnTo>
                    <a:pt x="1042035" y="0"/>
                  </a:lnTo>
                  <a:lnTo>
                    <a:pt x="0" y="6343650"/>
                  </a:lnTo>
                  <a:lnTo>
                    <a:pt x="297179" y="6395085"/>
                  </a:lnTo>
                  <a:lnTo>
                    <a:pt x="1346835" y="0"/>
                  </a:lnTo>
                  <a:close/>
                </a:path>
              </a:pathLst>
            </a:custGeom>
            <a:solidFill>
              <a:srgbClr val="2EA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0975" y="0"/>
              <a:ext cx="1341120" cy="6332220"/>
            </a:xfrm>
            <a:custGeom>
              <a:avLst/>
              <a:gdLst/>
              <a:ahLst/>
              <a:cxnLst/>
              <a:rect l="l" t="t" r="r" b="b"/>
              <a:pathLst>
                <a:path w="1341120" h="6332220">
                  <a:moveTo>
                    <a:pt x="1341120" y="0"/>
                  </a:moveTo>
                  <a:lnTo>
                    <a:pt x="1038225" y="0"/>
                  </a:lnTo>
                  <a:lnTo>
                    <a:pt x="0" y="6286500"/>
                  </a:lnTo>
                  <a:lnTo>
                    <a:pt x="299084" y="633222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0975" y="6286500"/>
              <a:ext cx="1474470" cy="1943100"/>
            </a:xfrm>
            <a:custGeom>
              <a:avLst/>
              <a:gdLst/>
              <a:ahLst/>
              <a:cxnLst/>
              <a:rect l="l" t="t" r="r" b="b"/>
              <a:pathLst>
                <a:path w="1474470" h="1943100">
                  <a:moveTo>
                    <a:pt x="0" y="0"/>
                  </a:moveTo>
                  <a:lnTo>
                    <a:pt x="1409700" y="1943099"/>
                  </a:lnTo>
                  <a:lnTo>
                    <a:pt x="1474470" y="1943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640" y="6349365"/>
              <a:ext cx="1794510" cy="1880235"/>
            </a:xfrm>
            <a:custGeom>
              <a:avLst/>
              <a:gdLst/>
              <a:ahLst/>
              <a:cxnLst/>
              <a:rect l="l" t="t" r="r" b="b"/>
              <a:pathLst>
                <a:path w="1794510" h="1880234">
                  <a:moveTo>
                    <a:pt x="0" y="0"/>
                  </a:moveTo>
                  <a:lnTo>
                    <a:pt x="1731645" y="1880235"/>
                  </a:lnTo>
                  <a:lnTo>
                    <a:pt x="1794510" y="18802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5A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8640" y="6343650"/>
              <a:ext cx="2556510" cy="1885950"/>
            </a:xfrm>
            <a:custGeom>
              <a:avLst/>
              <a:gdLst/>
              <a:ahLst/>
              <a:cxnLst/>
              <a:rect l="l" t="t" r="r" b="b"/>
              <a:pathLst>
                <a:path w="2556510" h="1885950">
                  <a:moveTo>
                    <a:pt x="0" y="0"/>
                  </a:moveTo>
                  <a:lnTo>
                    <a:pt x="0" y="5714"/>
                  </a:lnTo>
                  <a:lnTo>
                    <a:pt x="1794510" y="1885949"/>
                  </a:lnTo>
                  <a:lnTo>
                    <a:pt x="2556510" y="1885949"/>
                  </a:lnTo>
                  <a:lnTo>
                    <a:pt x="297179" y="51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8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0975" y="6286500"/>
              <a:ext cx="2034539" cy="1943100"/>
            </a:xfrm>
            <a:custGeom>
              <a:avLst/>
              <a:gdLst/>
              <a:ahLst/>
              <a:cxnLst/>
              <a:rect l="l" t="t" r="r" b="b"/>
              <a:pathLst>
                <a:path w="2034539" h="1943100">
                  <a:moveTo>
                    <a:pt x="0" y="0"/>
                  </a:moveTo>
                  <a:lnTo>
                    <a:pt x="1474470" y="1943099"/>
                  </a:lnTo>
                  <a:lnTo>
                    <a:pt x="2034539" y="1943099"/>
                  </a:lnTo>
                  <a:lnTo>
                    <a:pt x="350520" y="114300"/>
                  </a:lnTo>
                  <a:lnTo>
                    <a:pt x="293370" y="51435"/>
                  </a:lnTo>
                  <a:lnTo>
                    <a:pt x="299084" y="51435"/>
                  </a:lnTo>
                  <a:lnTo>
                    <a:pt x="299084" y="45719"/>
                  </a:lnTo>
                  <a:lnTo>
                    <a:pt x="293370" y="45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1522094" y="34544"/>
            <a:ext cx="10285729" cy="1207253"/>
          </a:xfrm>
          <a:prstGeom prst="rect">
            <a:avLst/>
          </a:prstGeom>
        </p:spPr>
        <p:txBody>
          <a:bodyPr vert="horz" wrap="square" lIns="0" tIns="525017" rIns="0" bIns="0" rtlCol="0">
            <a:spAutoFit/>
          </a:bodyPr>
          <a:lstStyle/>
          <a:p>
            <a:pPr marL="1693545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Tools</a:t>
            </a:r>
            <a:r>
              <a:rPr spc="-204" dirty="0"/>
              <a:t> </a:t>
            </a:r>
            <a:endParaRPr spc="-20" dirty="0"/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6215" y="43815"/>
            <a:ext cx="1655699" cy="151574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3872210" y="7746491"/>
            <a:ext cx="19558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75"/>
              </a:lnSpc>
            </a:pPr>
            <a:fld id="{81D60167-4931-47E6-BA6A-407CBD079E47}" type="slidenum">
              <a:rPr sz="1800" spc="-50" dirty="0">
                <a:latin typeface="Times New Roman"/>
                <a:cs typeface="Times New Roman"/>
              </a:rPr>
              <a:t>7</a:t>
            </a:fld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1A1B7A-F232-800C-FD58-45344C1B3F31}"/>
              </a:ext>
            </a:extLst>
          </p:cNvPr>
          <p:cNvSpPr txBox="1"/>
          <p:nvPr/>
        </p:nvSpPr>
        <p:spPr>
          <a:xfrm>
            <a:off x="2743200" y="1975848"/>
            <a:ext cx="587375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Microsoft Power BI – Dashboard creation and data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Microsoft Excel – Data storage and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Power Query Editor – Data cleaning and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DAX – KPI and calculated measures creation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4621" rIns="0" bIns="0" rtlCol="0">
            <a:spAutoFit/>
          </a:bodyPr>
          <a:lstStyle/>
          <a:p>
            <a:pPr marL="171196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5" dirty="0"/>
              <a:t> </a:t>
            </a:r>
            <a:r>
              <a:rPr spc="-10" dirty="0"/>
              <a:t>Learnings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1594" y="1507515"/>
            <a:ext cx="11370944" cy="4597412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770"/>
              </a:spcBef>
              <a:buFont typeface="Arial MT"/>
              <a:buChar char="•"/>
              <a:tabLst>
                <a:tab pos="353695" algn="l"/>
              </a:tabLst>
            </a:pPr>
            <a:r>
              <a:rPr lang="en-US" sz="2800" dirty="0"/>
              <a:t>Gained practical experience in data cleaning and preprocessing techniques.</a:t>
            </a:r>
          </a:p>
          <a:p>
            <a:pPr marL="353695" indent="-340995">
              <a:lnSpc>
                <a:spcPct val="100000"/>
              </a:lnSpc>
              <a:spcBef>
                <a:spcPts val="1770"/>
              </a:spcBef>
              <a:buFont typeface="Arial MT"/>
              <a:buChar char="•"/>
              <a:tabLst>
                <a:tab pos="353695" algn="l"/>
              </a:tabLst>
            </a:pPr>
            <a:r>
              <a:rPr lang="en-US" sz="2800" dirty="0"/>
              <a:t>Learned to create interactive dashboards using Power BI. Improved understanding of KPI creation and data visualization methods.</a:t>
            </a:r>
          </a:p>
          <a:p>
            <a:pPr marL="353695" indent="-340995">
              <a:lnSpc>
                <a:spcPct val="100000"/>
              </a:lnSpc>
              <a:spcBef>
                <a:spcPts val="1770"/>
              </a:spcBef>
              <a:buFont typeface="Arial MT"/>
              <a:buChar char="•"/>
              <a:tabLst>
                <a:tab pos="353695" algn="l"/>
              </a:tabLst>
            </a:pPr>
            <a:r>
              <a:rPr lang="en-US" sz="2800" dirty="0"/>
              <a:t>Developed knowledge of analyzing customer behavior and sales trends.</a:t>
            </a:r>
          </a:p>
          <a:p>
            <a:pPr marL="353695" indent="-340995">
              <a:lnSpc>
                <a:spcPct val="100000"/>
              </a:lnSpc>
              <a:spcBef>
                <a:spcPts val="1770"/>
              </a:spcBef>
              <a:buFont typeface="Arial MT"/>
              <a:buChar char="•"/>
              <a:tabLst>
                <a:tab pos="353695" algn="l"/>
              </a:tabLst>
            </a:pPr>
            <a:r>
              <a:rPr lang="en-US" sz="2800" dirty="0"/>
              <a:t>Learned how to transform raw data into meaningful business insights.</a:t>
            </a:r>
          </a:p>
          <a:p>
            <a:pPr marL="353695" indent="-340995">
              <a:lnSpc>
                <a:spcPct val="100000"/>
              </a:lnSpc>
              <a:spcBef>
                <a:spcPts val="1770"/>
              </a:spcBef>
              <a:buFont typeface="Arial MT"/>
              <a:buChar char="•"/>
              <a:tabLst>
                <a:tab pos="353695" algn="l"/>
              </a:tabLst>
            </a:pPr>
            <a:r>
              <a:rPr lang="en-US" sz="2800" dirty="0"/>
              <a:t>Enhanced analytical thinking and problem-solving skills.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6215" y="43815"/>
            <a:ext cx="1655699" cy="15157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960602" y="7865363"/>
            <a:ext cx="1397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50" dirty="0"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217" rIns="0" bIns="0" rtlCol="0">
            <a:spAutoFit/>
          </a:bodyPr>
          <a:lstStyle/>
          <a:p>
            <a:pPr marL="163576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Practical</a:t>
            </a:r>
            <a:r>
              <a:rPr spc="-50" dirty="0"/>
              <a:t> </a:t>
            </a:r>
            <a:r>
              <a:rPr spc="-10" dirty="0"/>
              <a:t>Experience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624" y="1676400"/>
            <a:ext cx="9601200" cy="4208844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47345" indent="-334645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34734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Worked</a:t>
            </a:r>
            <a:r>
              <a:rPr lang="en-US" sz="2800" spc="3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with</a:t>
            </a:r>
            <a:r>
              <a:rPr lang="en-US" sz="2800" spc="3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real-world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datasets</a:t>
            </a:r>
            <a:r>
              <a:rPr lang="en-US" sz="2800" spc="3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and</a:t>
            </a:r>
            <a:r>
              <a:rPr lang="en-US" sz="2800" spc="3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industry-related</a:t>
            </a:r>
            <a:r>
              <a:rPr lang="en-US" sz="2800" spc="3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problems.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Arial"/>
              <a:buChar char="•"/>
            </a:pPr>
            <a:endParaRPr lang="en-US" sz="2800" dirty="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buFont typeface="Arial"/>
              <a:buChar char="•"/>
              <a:tabLst>
                <a:tab pos="34734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Gained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hands-on</a:t>
            </a:r>
            <a:r>
              <a:rPr lang="en-US" sz="2800" spc="7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experience</a:t>
            </a:r>
            <a:r>
              <a:rPr lang="en-US" sz="2800" spc="4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in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data</a:t>
            </a:r>
            <a:r>
              <a:rPr lang="en-US" sz="2800" spc="4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processing</a:t>
            </a:r>
            <a:r>
              <a:rPr lang="en-US" sz="2800" spc="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and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analysis.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"/>
              <a:buChar char="•"/>
            </a:pPr>
            <a:endParaRPr lang="en-US" sz="2800" dirty="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buFont typeface="Arial"/>
              <a:buChar char="•"/>
              <a:tabLst>
                <a:tab pos="34734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Applied</a:t>
            </a:r>
            <a:r>
              <a:rPr lang="en-US" sz="2800" spc="6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theoretical</a:t>
            </a:r>
            <a:r>
              <a:rPr lang="en-US" sz="2800" spc="6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knowledge</a:t>
            </a:r>
            <a:r>
              <a:rPr lang="en-US" sz="2800" spc="7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to</a:t>
            </a:r>
            <a:r>
              <a:rPr lang="en-US" sz="2800" spc="6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practical</a:t>
            </a:r>
            <a:r>
              <a:rPr lang="en-US" sz="2800" spc="6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scenarios.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"/>
              <a:buChar char="•"/>
            </a:pPr>
            <a:endParaRPr lang="en-US" sz="2800" dirty="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buFont typeface="Arial"/>
              <a:buChar char="•"/>
              <a:tabLst>
                <a:tab pos="34734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Improved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understanding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of</a:t>
            </a:r>
            <a:r>
              <a:rPr lang="en-US" sz="2800" spc="6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project</a:t>
            </a:r>
            <a:r>
              <a:rPr lang="en-US" sz="2800" spc="8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workflows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and</a:t>
            </a:r>
            <a:r>
              <a:rPr lang="en-US" sz="2800" spc="70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deadlines.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"/>
              <a:buChar char="•"/>
            </a:pPr>
            <a:endParaRPr lang="en-US" sz="2800" dirty="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buFont typeface="Arial"/>
              <a:buChar char="•"/>
              <a:tabLst>
                <a:tab pos="34734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Experienced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a</a:t>
            </a:r>
            <a:r>
              <a:rPr lang="en-US" sz="2800" spc="6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professional</a:t>
            </a:r>
            <a:r>
              <a:rPr lang="en-US" sz="2800" spc="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work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environment.</a:t>
            </a:r>
            <a:endParaRPr lang="en-US"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6215" y="44450"/>
            <a:ext cx="1655699" cy="15157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036802" y="7751063"/>
            <a:ext cx="1397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50" dirty="0">
                <a:latin typeface="Times New Roman"/>
                <a:cs typeface="Times New Roman"/>
              </a:rPr>
              <a:t>9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417" rIns="0" bIns="0" rtlCol="0">
            <a:spAutoFit/>
          </a:bodyPr>
          <a:lstStyle/>
          <a:p>
            <a:pPr marL="1559560">
              <a:lnSpc>
                <a:spcPct val="100000"/>
              </a:lnSpc>
              <a:spcBef>
                <a:spcPts val="100"/>
              </a:spcBef>
            </a:pPr>
            <a:r>
              <a:rPr dirty="0"/>
              <a:t>Challenges</a:t>
            </a:r>
            <a:r>
              <a:rPr spc="-130" dirty="0"/>
              <a:t> </a:t>
            </a:r>
            <a:r>
              <a:rPr spc="-10" dirty="0"/>
              <a:t>Faced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6184" y="1606042"/>
            <a:ext cx="8976616" cy="43723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800" dirty="0"/>
              <a:t>Handling missing and duplicate values in the dataset during data preprocessing.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800" dirty="0"/>
              <a:t>Cleaning and transforming raw data into a structured format suitable for analysis.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800" dirty="0"/>
              <a:t>Creating calculated measures and KPIs for meaningful insights.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800" dirty="0"/>
              <a:t>Designing interactive and user-friendly Power BI dashboards.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800" dirty="0"/>
              <a:t>Managing relationships between different data fields and tables.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6215" y="43815"/>
            <a:ext cx="1655699" cy="15157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826489" y="7749539"/>
            <a:ext cx="24828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2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5017" rIns="0" bIns="0" rtlCol="0">
            <a:spAutoFit/>
          </a:bodyPr>
          <a:lstStyle/>
          <a:p>
            <a:pPr marL="1711960">
              <a:lnSpc>
                <a:spcPct val="100000"/>
              </a:lnSpc>
              <a:spcBef>
                <a:spcPts val="100"/>
              </a:spcBef>
            </a:pPr>
            <a:r>
              <a:rPr dirty="0"/>
              <a:t>Solutions</a:t>
            </a:r>
            <a:r>
              <a:rPr spc="-75" dirty="0"/>
              <a:t> </a:t>
            </a:r>
            <a:r>
              <a:rPr dirty="0"/>
              <a:t>&amp;</a:t>
            </a:r>
            <a:r>
              <a:rPr spc="-60" dirty="0"/>
              <a:t> </a:t>
            </a:r>
            <a:r>
              <a:rPr spc="-10" dirty="0"/>
              <a:t>Improvements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8585" y="1723389"/>
            <a:ext cx="8824215" cy="52854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7345" indent="-334645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34734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Used</a:t>
            </a:r>
            <a:r>
              <a:rPr lang="en-US" sz="2800" spc="2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online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resources</a:t>
            </a:r>
            <a:r>
              <a:rPr lang="en-US" sz="2800" spc="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and</a:t>
            </a:r>
            <a:r>
              <a:rPr lang="en-US" sz="2800" spc="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documentation</a:t>
            </a:r>
            <a:r>
              <a:rPr lang="en-US" sz="2800" spc="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to</a:t>
            </a:r>
            <a:r>
              <a:rPr lang="en-US" sz="2800" spc="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solve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errors.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Arial"/>
              <a:buChar char="•"/>
            </a:pPr>
            <a:endParaRPr lang="en-US" sz="2800" dirty="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buFont typeface="Arial"/>
              <a:buChar char="•"/>
              <a:tabLst>
                <a:tab pos="34734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Improved</a:t>
            </a:r>
            <a:r>
              <a:rPr lang="en-US" sz="2800" spc="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debugging</a:t>
            </a:r>
            <a:r>
              <a:rPr lang="en-US" sz="2800" spc="7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skills</a:t>
            </a:r>
            <a:r>
              <a:rPr lang="en-US" sz="2800" spc="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through</a:t>
            </a:r>
            <a:r>
              <a:rPr lang="en-US" sz="2800" spc="6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practice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and</a:t>
            </a:r>
            <a:r>
              <a:rPr lang="en-US" sz="2800" spc="5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analysis.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"/>
              <a:buChar char="•"/>
            </a:pPr>
            <a:endParaRPr lang="en-US" sz="2800" dirty="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buFont typeface="Arial"/>
              <a:buChar char="•"/>
              <a:tabLst>
                <a:tab pos="34734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Broke</a:t>
            </a:r>
            <a:r>
              <a:rPr lang="en-US" sz="2800" spc="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down</a:t>
            </a:r>
            <a:r>
              <a:rPr lang="en-US" sz="2800" spc="4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complex</a:t>
            </a:r>
            <a:r>
              <a:rPr lang="en-US" sz="2800" spc="4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tasks</a:t>
            </a:r>
            <a:r>
              <a:rPr lang="en-US" sz="2800" spc="4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into</a:t>
            </a:r>
            <a:r>
              <a:rPr lang="en-US" sz="2800" spc="4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smaller</a:t>
            </a:r>
            <a:r>
              <a:rPr lang="en-US" sz="2800" spc="6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steps</a:t>
            </a:r>
            <a:r>
              <a:rPr lang="en-US" sz="2800" spc="4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for</a:t>
            </a:r>
            <a:r>
              <a:rPr lang="en-US" sz="2800" spc="4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better</a:t>
            </a:r>
            <a:r>
              <a:rPr lang="en-US" sz="2800" spc="5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understanding.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"/>
              <a:buChar char="•"/>
            </a:pPr>
            <a:endParaRPr lang="en-US" sz="2800" dirty="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buFont typeface="Arial"/>
              <a:buChar char="•"/>
              <a:tabLst>
                <a:tab pos="34734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Managed</a:t>
            </a:r>
            <a:r>
              <a:rPr lang="en-US" sz="2800" spc="4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time</a:t>
            </a:r>
            <a:r>
              <a:rPr lang="en-US" sz="2800" spc="6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effectively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by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planning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and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prioritizing</a:t>
            </a:r>
            <a:r>
              <a:rPr lang="en-US" sz="2800" spc="2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tasks.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"/>
              <a:buChar char="•"/>
            </a:pPr>
            <a:endParaRPr lang="en-US" sz="2800" dirty="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buFont typeface="Arial"/>
              <a:buChar char="•"/>
              <a:tabLst>
                <a:tab pos="34734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Gained</a:t>
            </a:r>
            <a:r>
              <a:rPr lang="en-US" sz="2800" spc="7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better</a:t>
            </a:r>
            <a:r>
              <a:rPr lang="en-US" sz="2800" spc="6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understanding</a:t>
            </a:r>
            <a:r>
              <a:rPr lang="en-US" sz="2800" spc="7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of</a:t>
            </a:r>
            <a:r>
              <a:rPr lang="en-US" sz="2800" spc="6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data</a:t>
            </a:r>
            <a:r>
              <a:rPr lang="en-US" sz="2800" spc="6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visualization</a:t>
            </a:r>
            <a:r>
              <a:rPr lang="en-US" sz="2800" spc="7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techniques</a:t>
            </a:r>
            <a:r>
              <a:rPr lang="en-US" sz="2800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through</a:t>
            </a:r>
            <a:r>
              <a:rPr lang="en-US" sz="2800" spc="4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practice.</a:t>
            </a:r>
            <a:endParaRPr lang="en-US"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6215" y="43815"/>
            <a:ext cx="1655699" cy="15157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898117" y="7597139"/>
            <a:ext cx="24828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25" dirty="0">
                <a:latin typeface="Times New Roman"/>
                <a:cs typeface="Times New Roman"/>
              </a:rPr>
              <a:t>11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83994" y="431037"/>
            <a:ext cx="394207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Skills</a:t>
            </a:r>
            <a:r>
              <a:rPr spc="-155" dirty="0"/>
              <a:t> </a:t>
            </a:r>
            <a:r>
              <a:rPr spc="-10" dirty="0"/>
              <a:t>Developed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72385" y="1267648"/>
            <a:ext cx="3253104" cy="592899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65"/>
              </a:spcBef>
            </a:pPr>
            <a:r>
              <a:rPr sz="3200" b="1" spc="-70" dirty="0">
                <a:latin typeface="Times New Roman"/>
                <a:cs typeface="Times New Roman"/>
              </a:rPr>
              <a:t>Technical</a:t>
            </a:r>
            <a:r>
              <a:rPr sz="3200" b="1" spc="-14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Skills</a:t>
            </a:r>
            <a:endParaRPr sz="32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83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5" dirty="0">
                <a:latin typeface="Times New Roman"/>
                <a:cs typeface="Times New Roman"/>
              </a:rPr>
              <a:t>Python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programming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40" dirty="0">
                <a:latin typeface="Times New Roman"/>
                <a:cs typeface="Times New Roman"/>
              </a:rPr>
              <a:t>SQL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querying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Times New Roman"/>
                <a:cs typeface="Times New Roman"/>
              </a:rPr>
              <a:t>Data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analysis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basics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Times New Roman"/>
                <a:cs typeface="Times New Roman"/>
              </a:rPr>
              <a:t>Power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dashboards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55" dirty="0">
                <a:latin typeface="Times New Roman"/>
                <a:cs typeface="Times New Roman"/>
              </a:rPr>
              <a:t>Tableau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basics</a:t>
            </a:r>
            <a:endParaRPr sz="280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2405"/>
              </a:spcBef>
            </a:pPr>
            <a:r>
              <a:rPr sz="3200" b="1" spc="-10" dirty="0">
                <a:latin typeface="Times New Roman"/>
                <a:cs typeface="Times New Roman"/>
              </a:rPr>
              <a:t>Soft</a:t>
            </a:r>
            <a:r>
              <a:rPr sz="3200" b="1" spc="-17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Skills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1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Logical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thinking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700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Problem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solving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69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50" dirty="0">
                <a:latin typeface="Times New Roman"/>
                <a:cs typeface="Times New Roman"/>
              </a:rPr>
              <a:t>Self-</a:t>
            </a:r>
            <a:r>
              <a:rPr sz="2800" spc="-10" dirty="0">
                <a:latin typeface="Times New Roman"/>
                <a:cs typeface="Times New Roman"/>
              </a:rPr>
              <a:t>learning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6215" y="43815"/>
            <a:ext cx="1655699" cy="15157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055089" y="7673339"/>
            <a:ext cx="24828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25" dirty="0">
                <a:latin typeface="Times New Roman"/>
                <a:cs typeface="Times New Roman"/>
              </a:rPr>
              <a:t>12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261" rIns="0" bIns="0" rtlCol="0">
            <a:spAutoFit/>
          </a:bodyPr>
          <a:lstStyle/>
          <a:p>
            <a:pPr marL="1593215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-240" dirty="0"/>
              <a:t> </a:t>
            </a:r>
            <a:r>
              <a:rPr spc="-10" dirty="0"/>
              <a:t>Outcomes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82600" y="43853"/>
            <a:ext cx="1369059" cy="10982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503C0-EE10-A53A-2D44-4EC9549E1660}"/>
              </a:ext>
            </a:extLst>
          </p:cNvPr>
          <p:cNvSpPr txBox="1"/>
          <p:nvPr/>
        </p:nvSpPr>
        <p:spPr>
          <a:xfrm>
            <a:off x="1828800" y="1752600"/>
            <a:ext cx="7543800" cy="2964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345" indent="-334645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34734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Ability</a:t>
            </a:r>
            <a:r>
              <a:rPr lang="en-US" sz="1800" spc="5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to</a:t>
            </a:r>
            <a:r>
              <a:rPr lang="en-US" sz="1800" spc="5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analyze</a:t>
            </a:r>
            <a:r>
              <a:rPr lang="en-US" sz="1800" spc="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5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interpret</a:t>
            </a:r>
            <a:r>
              <a:rPr lang="en-US" sz="1800" spc="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real-world</a:t>
            </a:r>
            <a:r>
              <a:rPr lang="en-US" sz="1800" spc="5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data</a:t>
            </a:r>
            <a:r>
              <a:rPr lang="en-US" sz="1800" spc="7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effectively.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Arial"/>
              <a:buChar char="•"/>
            </a:pPr>
            <a:endParaRPr lang="en-US" sz="1800" dirty="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buFont typeface="Arial"/>
              <a:buChar char="•"/>
              <a:tabLst>
                <a:tab pos="34734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Improved</a:t>
            </a:r>
            <a:r>
              <a:rPr lang="en-US" sz="1800" spc="5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understanding</a:t>
            </a:r>
            <a:r>
              <a:rPr lang="en-US" sz="1800" spc="6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of</a:t>
            </a:r>
            <a:r>
              <a:rPr lang="en-US" sz="1800" spc="7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data</a:t>
            </a:r>
            <a:r>
              <a:rPr lang="en-US" sz="1800" spc="7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analytics</a:t>
            </a:r>
            <a:r>
              <a:rPr lang="en-US" sz="1800" spc="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concepts</a:t>
            </a:r>
            <a:r>
              <a:rPr lang="en-US" sz="1800" spc="4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5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tools.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"/>
              <a:buChar char="•"/>
            </a:pPr>
            <a:endParaRPr lang="en-US" sz="1800" dirty="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buFont typeface="Arial"/>
              <a:buChar char="•"/>
              <a:tabLst>
                <a:tab pos="34734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Gained</a:t>
            </a:r>
            <a:r>
              <a:rPr lang="en-US" sz="1800" spc="6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hands-on</a:t>
            </a:r>
            <a:r>
              <a:rPr lang="en-US" sz="1800" spc="9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experience</a:t>
            </a:r>
            <a:r>
              <a:rPr lang="en-US" sz="1800" spc="6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with</a:t>
            </a:r>
            <a:r>
              <a:rPr lang="en-US" sz="1800" spc="7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industry-level</a:t>
            </a:r>
            <a:r>
              <a:rPr lang="en-US" sz="1800" spc="5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projects.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"/>
              <a:buChar char="•"/>
            </a:pPr>
            <a:endParaRPr lang="en-US" sz="1800" dirty="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buFont typeface="Arial"/>
              <a:buChar char="•"/>
              <a:tabLst>
                <a:tab pos="34734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Enhanced</a:t>
            </a:r>
            <a:r>
              <a:rPr lang="en-US" sz="1800" spc="6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problem-solving</a:t>
            </a:r>
            <a:r>
              <a:rPr lang="en-US" sz="1800" spc="7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7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analytical</a:t>
            </a:r>
            <a:r>
              <a:rPr lang="en-US" sz="1800" spc="7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thinking</a:t>
            </a:r>
            <a:r>
              <a:rPr lang="en-US" sz="1800" spc="7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skills.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"/>
              <a:buChar char="•"/>
            </a:pPr>
            <a:endParaRPr lang="en-US" sz="1800" dirty="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buFont typeface="Arial"/>
              <a:buChar char="•"/>
              <a:tabLst>
                <a:tab pos="34734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Better</a:t>
            </a:r>
            <a:r>
              <a:rPr lang="en-US" sz="1800" spc="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preparedness</a:t>
            </a:r>
            <a:r>
              <a:rPr lang="en-US" sz="1800" spc="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for</a:t>
            </a:r>
            <a:r>
              <a:rPr lang="en-US" sz="1800" spc="5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data-related</a:t>
            </a:r>
            <a:r>
              <a:rPr lang="en-US" sz="1800" spc="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roles</a:t>
            </a:r>
            <a:r>
              <a:rPr lang="en-US" sz="1800" spc="6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in</a:t>
            </a:r>
            <a:r>
              <a:rPr lang="en-US" sz="1800" spc="4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6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future.</a:t>
            </a:r>
            <a:endParaRPr lang="en-US" sz="18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81965" y="44234"/>
            <a:ext cx="1369694" cy="109876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81200" y="34544"/>
            <a:ext cx="9826624" cy="954876"/>
          </a:xfrm>
          <a:prstGeom prst="rect">
            <a:avLst/>
          </a:prstGeom>
        </p:spPr>
        <p:txBody>
          <a:bodyPr vert="horz" wrap="square" lIns="0" tIns="275081" rIns="0" bIns="0" rtlCol="0">
            <a:spAutoFit/>
          </a:bodyPr>
          <a:lstStyle/>
          <a:p>
            <a:pPr marL="1651000">
              <a:lnSpc>
                <a:spcPct val="100000"/>
              </a:lnSpc>
              <a:spcBef>
                <a:spcPts val="100"/>
              </a:spcBef>
            </a:pPr>
            <a:r>
              <a:rPr lang="en-US" spc="-25" dirty="0"/>
              <a:t>Customer Analysis Dashboard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484" rIns="0" bIns="0" rtlCol="0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FA564-371D-5DEB-9B07-A621E8424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71600"/>
            <a:ext cx="9027568" cy="62631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0200" y="84747"/>
            <a:ext cx="1369694" cy="109876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86000" y="34544"/>
            <a:ext cx="9521824" cy="1019510"/>
          </a:xfrm>
          <a:prstGeom prst="rect">
            <a:avLst/>
          </a:prstGeom>
        </p:spPr>
        <p:txBody>
          <a:bodyPr vert="horz" wrap="square" lIns="0" tIns="339090" rIns="0" bIns="0" rtlCol="0">
            <a:spAutoFit/>
          </a:bodyPr>
          <a:lstStyle/>
          <a:p>
            <a:pPr marL="1522730">
              <a:lnSpc>
                <a:spcPct val="100000"/>
              </a:lnSpc>
              <a:spcBef>
                <a:spcPts val="100"/>
              </a:spcBef>
            </a:pPr>
            <a:r>
              <a:rPr lang="en-US" spc="-25" dirty="0"/>
              <a:t>Product Performance Dashboard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484" rIns="0" bIns="0" rtlCol="0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A6DA38-7176-56E5-824D-828675235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531169"/>
            <a:ext cx="10287000" cy="60631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81965" y="44234"/>
            <a:ext cx="1369694" cy="109876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6880" y="34544"/>
            <a:ext cx="11370944" cy="867160"/>
          </a:xfrm>
          <a:prstGeom prst="rect">
            <a:avLst/>
          </a:prstGeom>
        </p:spPr>
        <p:txBody>
          <a:bodyPr vert="horz" wrap="square" lIns="0" tIns="188214" rIns="0" bIns="0" rtlCol="0">
            <a:spAutoFit/>
          </a:bodyPr>
          <a:lstStyle/>
          <a:p>
            <a:pPr marL="1888489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&amp; Operations Dashboard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8CB066-6D1A-A000-424E-CF6B18E6F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524000"/>
            <a:ext cx="9372600" cy="61250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7DB1-5C5E-D866-B877-3AFB051A7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34544"/>
            <a:ext cx="9369424" cy="67710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and Interpretation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94825-95F2-9871-6777-AE3BF08F0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0" y="914400"/>
            <a:ext cx="10210800" cy="7909858"/>
          </a:xfrm>
        </p:spPr>
        <p:txBody>
          <a:bodyPr/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 .What are the key business insights identified from the dashboard?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 The business generated over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70M in total sales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 strong customer engagement across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20K total orders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8K customers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The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 category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emerged as the highest revenue contributor among all product categories.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Monthly sales and order trends remained stable throughout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2024–2025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indicating consistent business performance.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Top-performing products such as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Vitamin D3, Winter Jacket, and Yoga Mat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contributed significantly to revenue generation.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Returned and cancelled orders remained comparatively high, highlighting operational improvement opportunities.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Top customers generated higher sales contribution, emphasizing the importance of customer retention strategies.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What operational improvements can be recommended based on the analysis?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 Improve delivery efficiency to reduce returned and cancelled orders.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Strengthen product quality checks, especially in high-return categories such as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Optimize inventory planning for top-performing products and high-demand categories.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Monitor operational performance by customer location to identify underperforming regions.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Enhance customer support and faster issue resolution to improve customer satisfaction ratings.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Implement regular KPI monitoring for returns, cancellations, and delivery performance.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 What strategies can help improve sales and customer retention?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 Introduce loyalty and reward programs for repeat and high-value customers.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Focus promotional campaigns on top-performing products and revenue-generating categories.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Personalize offers based on customer purchasing behavior and order history.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Increase marketing efforts during peak sales periods to maximize revenue opportunities.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Improve customer experience through better delivery communication and post-purchase support.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Encourage repeat purchases through targeted customer engagement strategies.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 What are the major trends observed from the analysis?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 Revenue contribution is well distributed across multiple product categories.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Certain products consistently generated higher sales and customer demand.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Monthly order and sales trends remained relatively stable throughout the analysis period.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Return and cancellation rates were higher in selected categories, impacting operational efficiency.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Average customer ratings indicate moderate satisfaction levels with opportunities for improvement.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Delivery operations remained stable across most customer locations and regions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 Assumptions </a:t>
            </a: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&amp; Considerations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 Analysis is based on the available e-commerce sales and operational dataset.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Customer ratings are assumed to reflect the overall customer purchase experience.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Seasonal and external market factors were not considered in this analysis.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• Revenue, sales, and operational metrics are assumed to be accurately recorded in the dataset.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822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02866" y="447801"/>
            <a:ext cx="26879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32384" indent="-227329">
              <a:lnSpc>
                <a:spcPct val="1494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Data</a:t>
            </a:r>
            <a:r>
              <a:rPr spc="645" dirty="0"/>
              <a:t> </a:t>
            </a:r>
            <a:r>
              <a:rPr dirty="0"/>
              <a:t>analytics</a:t>
            </a:r>
            <a:r>
              <a:rPr spc="650" dirty="0"/>
              <a:t> </a:t>
            </a:r>
            <a:r>
              <a:rPr dirty="0"/>
              <a:t>plays</a:t>
            </a:r>
            <a:r>
              <a:rPr spc="665" dirty="0"/>
              <a:t> </a:t>
            </a:r>
            <a:r>
              <a:rPr dirty="0"/>
              <a:t>a</a:t>
            </a:r>
            <a:r>
              <a:rPr spc="640" dirty="0"/>
              <a:t> </a:t>
            </a:r>
            <a:r>
              <a:rPr dirty="0"/>
              <a:t>vital</a:t>
            </a:r>
            <a:r>
              <a:rPr spc="650" dirty="0"/>
              <a:t> </a:t>
            </a:r>
            <a:r>
              <a:rPr dirty="0"/>
              <a:t>role</a:t>
            </a:r>
            <a:r>
              <a:rPr spc="645" dirty="0"/>
              <a:t> </a:t>
            </a:r>
            <a:r>
              <a:rPr dirty="0"/>
              <a:t>in</a:t>
            </a:r>
            <a:r>
              <a:rPr spc="650" dirty="0"/>
              <a:t> </a:t>
            </a:r>
            <a:r>
              <a:rPr dirty="0"/>
              <a:t>transforming</a:t>
            </a:r>
            <a:r>
              <a:rPr spc="660" dirty="0"/>
              <a:t> </a:t>
            </a:r>
            <a:r>
              <a:rPr dirty="0"/>
              <a:t>raw</a:t>
            </a:r>
            <a:r>
              <a:rPr spc="645" dirty="0"/>
              <a:t> </a:t>
            </a:r>
            <a:r>
              <a:rPr dirty="0"/>
              <a:t>data</a:t>
            </a:r>
            <a:r>
              <a:rPr spc="655" dirty="0"/>
              <a:t> </a:t>
            </a:r>
            <a:r>
              <a:rPr dirty="0"/>
              <a:t>into</a:t>
            </a:r>
            <a:r>
              <a:rPr spc="670" dirty="0"/>
              <a:t> </a:t>
            </a:r>
            <a:r>
              <a:rPr spc="-10" dirty="0"/>
              <a:t>meaningful 	</a:t>
            </a:r>
            <a:r>
              <a:rPr dirty="0"/>
              <a:t>insights</a:t>
            </a:r>
            <a:r>
              <a:rPr spc="-50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support</a:t>
            </a:r>
            <a:r>
              <a:rPr spc="-55" dirty="0"/>
              <a:t> </a:t>
            </a:r>
            <a:r>
              <a:rPr dirty="0"/>
              <a:t>informed</a:t>
            </a:r>
            <a:r>
              <a:rPr spc="-45" dirty="0"/>
              <a:t> </a:t>
            </a:r>
            <a:r>
              <a:rPr dirty="0"/>
              <a:t>decision-</a:t>
            </a:r>
            <a:r>
              <a:rPr spc="-10" dirty="0"/>
              <a:t>making.</a:t>
            </a:r>
          </a:p>
          <a:p>
            <a:pPr marL="240029" marR="5080" indent="-227329">
              <a:lnSpc>
                <a:spcPct val="149700"/>
              </a:lnSpc>
              <a:spcBef>
                <a:spcPts val="715"/>
              </a:spcBef>
              <a:buFont typeface="Arial MT"/>
              <a:buChar char="•"/>
              <a:tabLst>
                <a:tab pos="241300" algn="l"/>
                <a:tab pos="708660" algn="l"/>
                <a:tab pos="1708785" algn="l"/>
                <a:tab pos="3867150" algn="l"/>
                <a:tab pos="5220335" algn="l"/>
                <a:tab pos="6683375" algn="l"/>
                <a:tab pos="8117840" algn="l"/>
                <a:tab pos="9847580" algn="l"/>
                <a:tab pos="10612755" algn="l"/>
                <a:tab pos="11473815" algn="l"/>
              </a:tabLst>
            </a:pPr>
            <a:r>
              <a:rPr spc="-25" dirty="0"/>
              <a:t>It</a:t>
            </a:r>
            <a:r>
              <a:rPr dirty="0"/>
              <a:t>	</a:t>
            </a:r>
            <a:r>
              <a:rPr spc="-10" dirty="0"/>
              <a:t>helps</a:t>
            </a:r>
            <a:r>
              <a:rPr dirty="0"/>
              <a:t>	</a:t>
            </a:r>
            <a:r>
              <a:rPr spc="-10" dirty="0"/>
              <a:t>organizations</a:t>
            </a:r>
            <a:r>
              <a:rPr dirty="0"/>
              <a:t>	</a:t>
            </a:r>
            <a:r>
              <a:rPr spc="-10" dirty="0"/>
              <a:t>identify</a:t>
            </a:r>
            <a:r>
              <a:rPr dirty="0"/>
              <a:t>	</a:t>
            </a:r>
            <a:r>
              <a:rPr spc="-10" dirty="0"/>
              <a:t>patterns,</a:t>
            </a:r>
            <a:r>
              <a:rPr dirty="0"/>
              <a:t>	</a:t>
            </a:r>
            <a:r>
              <a:rPr spc="-10" dirty="0"/>
              <a:t>improve</a:t>
            </a:r>
            <a:r>
              <a:rPr dirty="0"/>
              <a:t>	</a:t>
            </a:r>
            <a:r>
              <a:rPr spc="-10" dirty="0"/>
              <a:t>efficiency,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20" dirty="0"/>
              <a:t>gain</a:t>
            </a:r>
            <a:r>
              <a:rPr dirty="0"/>
              <a:t>	</a:t>
            </a:r>
            <a:r>
              <a:rPr spc="-50" dirty="0"/>
              <a:t>a 	</a:t>
            </a:r>
            <a:r>
              <a:rPr dirty="0"/>
              <a:t>competitive </a:t>
            </a:r>
            <a:r>
              <a:rPr spc="-10" dirty="0"/>
              <a:t>advantage.</a:t>
            </a:r>
          </a:p>
          <a:p>
            <a:pPr marL="240029" marR="217170" indent="-227329">
              <a:lnSpc>
                <a:spcPct val="149400"/>
              </a:lnSpc>
              <a:spcBef>
                <a:spcPts val="7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By</a:t>
            </a:r>
            <a:r>
              <a:rPr spc="-40" dirty="0"/>
              <a:t> </a:t>
            </a:r>
            <a:r>
              <a:rPr dirty="0"/>
              <a:t>combining</a:t>
            </a:r>
            <a:r>
              <a:rPr spc="-25" dirty="0"/>
              <a:t> </a:t>
            </a:r>
            <a:r>
              <a:rPr dirty="0"/>
              <a:t>technical</a:t>
            </a:r>
            <a:r>
              <a:rPr spc="-40" dirty="0"/>
              <a:t> </a:t>
            </a:r>
            <a:r>
              <a:rPr dirty="0"/>
              <a:t>skills</a:t>
            </a:r>
            <a:r>
              <a:rPr spc="-25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analytical</a:t>
            </a:r>
            <a:r>
              <a:rPr spc="-35" dirty="0"/>
              <a:t> </a:t>
            </a:r>
            <a:r>
              <a:rPr dirty="0"/>
              <a:t>thinking,</a:t>
            </a:r>
            <a:r>
              <a:rPr spc="-35" dirty="0"/>
              <a:t> </a:t>
            </a:r>
            <a:r>
              <a:rPr dirty="0"/>
              <a:t>professionals</a:t>
            </a:r>
            <a:r>
              <a:rPr spc="-35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spc="-10" dirty="0"/>
              <a:t>solve 	real-</a:t>
            </a:r>
            <a:r>
              <a:rPr dirty="0"/>
              <a:t>world</a:t>
            </a:r>
            <a:r>
              <a:rPr spc="-40" dirty="0"/>
              <a:t> </a:t>
            </a:r>
            <a:r>
              <a:rPr dirty="0"/>
              <a:t>problems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drive</a:t>
            </a:r>
            <a:r>
              <a:rPr spc="-45" dirty="0"/>
              <a:t> </a:t>
            </a:r>
            <a:r>
              <a:rPr dirty="0"/>
              <a:t>business</a:t>
            </a:r>
            <a:r>
              <a:rPr spc="-40" dirty="0"/>
              <a:t> </a:t>
            </a:r>
            <a:r>
              <a:rPr spc="-10" dirty="0"/>
              <a:t>success.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82600" y="43815"/>
            <a:ext cx="1369059" cy="11818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131289" y="7744967"/>
            <a:ext cx="24828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25" dirty="0">
                <a:latin typeface="Times New Roman"/>
                <a:cs typeface="Times New Roman"/>
              </a:rPr>
              <a:t>17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4629256" cy="822896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65675" y="2811856"/>
            <a:ext cx="616966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dirty="0"/>
              <a:t>Thank</a:t>
            </a:r>
            <a:r>
              <a:rPr sz="9600" spc="-400" dirty="0"/>
              <a:t> </a:t>
            </a:r>
            <a:r>
              <a:rPr sz="9600" spc="-1155" dirty="0"/>
              <a:t>Y</a:t>
            </a:r>
            <a:r>
              <a:rPr sz="9600" spc="-50" dirty="0"/>
              <a:t>o</a:t>
            </a:r>
            <a:r>
              <a:rPr sz="9600" spc="-95" dirty="0"/>
              <a:t>u</a:t>
            </a:r>
            <a:r>
              <a:rPr sz="9600" spc="-45" dirty="0"/>
              <a:t>!</a:t>
            </a:r>
            <a:endParaRPr sz="9600"/>
          </a:p>
        </p:txBody>
      </p:sp>
      <p:grpSp>
        <p:nvGrpSpPr>
          <p:cNvPr id="4" name="object 4"/>
          <p:cNvGrpSpPr/>
          <p:nvPr/>
        </p:nvGrpSpPr>
        <p:grpSpPr>
          <a:xfrm>
            <a:off x="180975" y="0"/>
            <a:ext cx="2924175" cy="8229600"/>
            <a:chOff x="180975" y="0"/>
            <a:chExt cx="2924175" cy="8229600"/>
          </a:xfrm>
        </p:grpSpPr>
        <p:sp>
          <p:nvSpPr>
            <p:cNvPr id="5" name="object 5"/>
            <p:cNvSpPr/>
            <p:nvPr/>
          </p:nvSpPr>
          <p:spPr>
            <a:xfrm>
              <a:off x="548640" y="0"/>
              <a:ext cx="1346835" cy="6395085"/>
            </a:xfrm>
            <a:custGeom>
              <a:avLst/>
              <a:gdLst/>
              <a:ahLst/>
              <a:cxnLst/>
              <a:rect l="l" t="t" r="r" b="b"/>
              <a:pathLst>
                <a:path w="1346835" h="6395085">
                  <a:moveTo>
                    <a:pt x="1346835" y="0"/>
                  </a:moveTo>
                  <a:lnTo>
                    <a:pt x="1042035" y="0"/>
                  </a:lnTo>
                  <a:lnTo>
                    <a:pt x="0" y="6343650"/>
                  </a:lnTo>
                  <a:lnTo>
                    <a:pt x="297179" y="6395085"/>
                  </a:lnTo>
                  <a:lnTo>
                    <a:pt x="1346835" y="0"/>
                  </a:lnTo>
                  <a:close/>
                </a:path>
              </a:pathLst>
            </a:custGeom>
            <a:solidFill>
              <a:srgbClr val="2EA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0975" y="0"/>
              <a:ext cx="1341120" cy="6332220"/>
            </a:xfrm>
            <a:custGeom>
              <a:avLst/>
              <a:gdLst/>
              <a:ahLst/>
              <a:cxnLst/>
              <a:rect l="l" t="t" r="r" b="b"/>
              <a:pathLst>
                <a:path w="1341120" h="6332220">
                  <a:moveTo>
                    <a:pt x="1341120" y="0"/>
                  </a:moveTo>
                  <a:lnTo>
                    <a:pt x="1038225" y="0"/>
                  </a:lnTo>
                  <a:lnTo>
                    <a:pt x="0" y="6286500"/>
                  </a:lnTo>
                  <a:lnTo>
                    <a:pt x="299084" y="633222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0975" y="6286500"/>
              <a:ext cx="1474470" cy="1943100"/>
            </a:xfrm>
            <a:custGeom>
              <a:avLst/>
              <a:gdLst/>
              <a:ahLst/>
              <a:cxnLst/>
              <a:rect l="l" t="t" r="r" b="b"/>
              <a:pathLst>
                <a:path w="1474470" h="1943100">
                  <a:moveTo>
                    <a:pt x="0" y="0"/>
                  </a:moveTo>
                  <a:lnTo>
                    <a:pt x="1409700" y="1943099"/>
                  </a:lnTo>
                  <a:lnTo>
                    <a:pt x="1474470" y="1943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8640" y="6349365"/>
              <a:ext cx="1794510" cy="1880235"/>
            </a:xfrm>
            <a:custGeom>
              <a:avLst/>
              <a:gdLst/>
              <a:ahLst/>
              <a:cxnLst/>
              <a:rect l="l" t="t" r="r" b="b"/>
              <a:pathLst>
                <a:path w="1794510" h="1880234">
                  <a:moveTo>
                    <a:pt x="0" y="0"/>
                  </a:moveTo>
                  <a:lnTo>
                    <a:pt x="1731645" y="1880235"/>
                  </a:lnTo>
                  <a:lnTo>
                    <a:pt x="1794510" y="18802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5A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640" y="6343650"/>
              <a:ext cx="2556510" cy="1885950"/>
            </a:xfrm>
            <a:custGeom>
              <a:avLst/>
              <a:gdLst/>
              <a:ahLst/>
              <a:cxnLst/>
              <a:rect l="l" t="t" r="r" b="b"/>
              <a:pathLst>
                <a:path w="2556510" h="1885950">
                  <a:moveTo>
                    <a:pt x="0" y="0"/>
                  </a:moveTo>
                  <a:lnTo>
                    <a:pt x="0" y="5714"/>
                  </a:lnTo>
                  <a:lnTo>
                    <a:pt x="1794510" y="1885949"/>
                  </a:lnTo>
                  <a:lnTo>
                    <a:pt x="2556510" y="1885949"/>
                  </a:lnTo>
                  <a:lnTo>
                    <a:pt x="297179" y="51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8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0975" y="6286500"/>
              <a:ext cx="2034539" cy="1943100"/>
            </a:xfrm>
            <a:custGeom>
              <a:avLst/>
              <a:gdLst/>
              <a:ahLst/>
              <a:cxnLst/>
              <a:rect l="l" t="t" r="r" b="b"/>
              <a:pathLst>
                <a:path w="2034539" h="1943100">
                  <a:moveTo>
                    <a:pt x="0" y="0"/>
                  </a:moveTo>
                  <a:lnTo>
                    <a:pt x="1474470" y="1943099"/>
                  </a:lnTo>
                  <a:lnTo>
                    <a:pt x="2034539" y="1943099"/>
                  </a:lnTo>
                  <a:lnTo>
                    <a:pt x="350520" y="114300"/>
                  </a:lnTo>
                  <a:lnTo>
                    <a:pt x="293370" y="51435"/>
                  </a:lnTo>
                  <a:lnTo>
                    <a:pt x="299084" y="51435"/>
                  </a:lnTo>
                  <a:lnTo>
                    <a:pt x="299084" y="45719"/>
                  </a:lnTo>
                  <a:lnTo>
                    <a:pt x="293370" y="45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1213</Words>
  <Application>Microsoft Office PowerPoint</Application>
  <PresentationFormat>Custom</PresentationFormat>
  <Paragraphs>164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MT</vt:lpstr>
      <vt:lpstr>Times New Roman</vt:lpstr>
      <vt:lpstr>Office Theme</vt:lpstr>
      <vt:lpstr>CITY ENGINEERING COLLEGE</vt:lpstr>
      <vt:lpstr>Table of Content</vt:lpstr>
      <vt:lpstr>Introduction</vt:lpstr>
      <vt:lpstr>About the Organization: Dyashin TechnoSoft Pvt Ltd</vt:lpstr>
      <vt:lpstr>Internship Overview</vt:lpstr>
      <vt:lpstr>Task Performed</vt:lpstr>
      <vt:lpstr>Tools </vt:lpstr>
      <vt:lpstr>Key Learnings</vt:lpstr>
      <vt:lpstr>Practical Experience</vt:lpstr>
      <vt:lpstr>Challenges Faced</vt:lpstr>
      <vt:lpstr>Solutions &amp; Improvements</vt:lpstr>
      <vt:lpstr>Skills Developed</vt:lpstr>
      <vt:lpstr>Learning Outcomes</vt:lpstr>
      <vt:lpstr>Customer Analysis Dashboard</vt:lpstr>
      <vt:lpstr>Product Performance Dashboard</vt:lpstr>
      <vt:lpstr>Delivery &amp; Operations Dashboard</vt:lpstr>
      <vt:lpstr>Business Insights and Interpretation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Shoba</dc:creator>
  <cp:lastModifiedBy>V Shubha</cp:lastModifiedBy>
  <cp:revision>5</cp:revision>
  <dcterms:created xsi:type="dcterms:W3CDTF">2026-05-20T06:06:48Z</dcterms:created>
  <dcterms:modified xsi:type="dcterms:W3CDTF">2026-05-20T18:07:33Z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2026-05-04T00:00:00Z</vt:filetime>
  </property>
  <property fmtid="{D5CDD505-2E9C-101B-9397-08002B2CF9AE}" pid="4" name="Creator">
    <vt:lpwstr>Microsoft® Word 2021</vt:lpwstr>
  </property>
  <property fmtid="{D5CDD505-2E9C-101B-9397-08002B2CF9AE}" pid="5" name="LastSaved">
    <vt:filetime>2026-05-20T00:00:00Z</vt:filetime>
  </property>
  <property fmtid="{D5CDD505-2E9C-101B-9397-08002B2CF9AE}" pid="6" name="Producer">
    <vt:lpwstr>Microsoft® Word 2021</vt:lpwstr>
  </property>
</Properties>
</file>